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anva Sans Bold" panose="020B0604020202020204" charset="0"/>
      <p:regular r:id="rId16"/>
    </p:embeddedFont>
    <p:embeddedFont>
      <p:font typeface="Poppins" panose="00000500000000000000" pitchFamily="2" charset="0"/>
      <p:regular r:id="rId17"/>
    </p:embeddedFont>
    <p:embeddedFont>
      <p:font typeface="Poppins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960" y="17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5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od Tareq Aziz" userId="e22c9939-3df7-4788-a6e7-40f01eb1329b" providerId="ADAL" clId="{CF9CD514-A7D5-4266-93D2-8A0EE0C95B19}"/>
    <pc:docChg chg="undo custSel modSld">
      <pc:chgData name="Mohammod Tareq Aziz" userId="e22c9939-3df7-4788-a6e7-40f01eb1329b" providerId="ADAL" clId="{CF9CD514-A7D5-4266-93D2-8A0EE0C95B19}" dt="2025-06-19T03:49:17.985" v="203"/>
      <pc:docMkLst>
        <pc:docMk/>
      </pc:docMkLst>
      <pc:sldChg chg="modTransition modAnim">
        <pc:chgData name="Mohammod Tareq Aziz" userId="e22c9939-3df7-4788-a6e7-40f01eb1329b" providerId="ADAL" clId="{CF9CD514-A7D5-4266-93D2-8A0EE0C95B19}" dt="2025-06-19T03:26:00.117" v="22"/>
        <pc:sldMkLst>
          <pc:docMk/>
          <pc:sldMk cId="0" sldId="256"/>
        </pc:sldMkLst>
      </pc:sldChg>
      <pc:sldChg chg="modAnim">
        <pc:chgData name="Mohammod Tareq Aziz" userId="e22c9939-3df7-4788-a6e7-40f01eb1329b" providerId="ADAL" clId="{CF9CD514-A7D5-4266-93D2-8A0EE0C95B19}" dt="2025-06-19T03:26:15.636" v="26"/>
        <pc:sldMkLst>
          <pc:docMk/>
          <pc:sldMk cId="0" sldId="257"/>
        </pc:sldMkLst>
      </pc:sldChg>
      <pc:sldChg chg="modAnim">
        <pc:chgData name="Mohammod Tareq Aziz" userId="e22c9939-3df7-4788-a6e7-40f01eb1329b" providerId="ADAL" clId="{CF9CD514-A7D5-4266-93D2-8A0EE0C95B19}" dt="2025-06-19T03:26:41.733" v="30"/>
        <pc:sldMkLst>
          <pc:docMk/>
          <pc:sldMk cId="0" sldId="258"/>
        </pc:sldMkLst>
      </pc:sldChg>
      <pc:sldChg chg="modAnim">
        <pc:chgData name="Mohammod Tareq Aziz" userId="e22c9939-3df7-4788-a6e7-40f01eb1329b" providerId="ADAL" clId="{CF9CD514-A7D5-4266-93D2-8A0EE0C95B19}" dt="2025-06-19T03:27:22.828" v="34"/>
        <pc:sldMkLst>
          <pc:docMk/>
          <pc:sldMk cId="0" sldId="259"/>
        </pc:sldMkLst>
      </pc:sldChg>
      <pc:sldChg chg="modAnim">
        <pc:chgData name="Mohammod Tareq Aziz" userId="e22c9939-3df7-4788-a6e7-40f01eb1329b" providerId="ADAL" clId="{CF9CD514-A7D5-4266-93D2-8A0EE0C95B19}" dt="2025-06-19T03:27:52.076" v="38"/>
        <pc:sldMkLst>
          <pc:docMk/>
          <pc:sldMk cId="0" sldId="260"/>
        </pc:sldMkLst>
      </pc:sldChg>
      <pc:sldChg chg="modAnim">
        <pc:chgData name="Mohammod Tareq Aziz" userId="e22c9939-3df7-4788-a6e7-40f01eb1329b" providerId="ADAL" clId="{CF9CD514-A7D5-4266-93D2-8A0EE0C95B19}" dt="2025-06-19T03:29:01.161" v="43"/>
        <pc:sldMkLst>
          <pc:docMk/>
          <pc:sldMk cId="0" sldId="261"/>
        </pc:sldMkLst>
      </pc:sldChg>
      <pc:sldChg chg="addSp delSp modSp mod">
        <pc:chgData name="Mohammod Tareq Aziz" userId="e22c9939-3df7-4788-a6e7-40f01eb1329b" providerId="ADAL" clId="{CF9CD514-A7D5-4266-93D2-8A0EE0C95B19}" dt="2025-06-19T03:43:25.454" v="169" actId="14100"/>
        <pc:sldMkLst>
          <pc:docMk/>
          <pc:sldMk cId="0" sldId="262"/>
        </pc:sldMkLst>
        <pc:spChg chg="del">
          <ac:chgData name="Mohammod Tareq Aziz" userId="e22c9939-3df7-4788-a6e7-40f01eb1329b" providerId="ADAL" clId="{CF9CD514-A7D5-4266-93D2-8A0EE0C95B19}" dt="2025-06-19T03:30:32.875" v="47" actId="478"/>
          <ac:spMkLst>
            <pc:docMk/>
            <pc:sldMk cId="0" sldId="262"/>
            <ac:spMk id="56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34.130" v="48" actId="478"/>
          <ac:spMkLst>
            <pc:docMk/>
            <pc:sldMk cId="0" sldId="262"/>
            <ac:spMk id="57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36.330" v="50" actId="478"/>
          <ac:spMkLst>
            <pc:docMk/>
            <pc:sldMk cId="0" sldId="262"/>
            <ac:spMk id="58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38.395" v="52" actId="478"/>
          <ac:spMkLst>
            <pc:docMk/>
            <pc:sldMk cId="0" sldId="262"/>
            <ac:spMk id="59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50.004" v="65" actId="478"/>
          <ac:spMkLst>
            <pc:docMk/>
            <pc:sldMk cId="0" sldId="262"/>
            <ac:spMk id="60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1.202" v="55" actId="478"/>
          <ac:spMkLst>
            <pc:docMk/>
            <pc:sldMk cId="0" sldId="262"/>
            <ac:spMk id="61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4.561" v="59" actId="478"/>
          <ac:spMkLst>
            <pc:docMk/>
            <pc:sldMk cId="0" sldId="262"/>
            <ac:spMk id="62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2.976" v="57" actId="478"/>
          <ac:spMkLst>
            <pc:docMk/>
            <pc:sldMk cId="0" sldId="262"/>
            <ac:spMk id="63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5.417" v="60" actId="478"/>
          <ac:spMkLst>
            <pc:docMk/>
            <pc:sldMk cId="0" sldId="262"/>
            <ac:spMk id="64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7.082" v="62" actId="478"/>
          <ac:spMkLst>
            <pc:docMk/>
            <pc:sldMk cId="0" sldId="262"/>
            <ac:spMk id="65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51.355" v="66" actId="478"/>
          <ac:spMkLst>
            <pc:docMk/>
            <pc:sldMk cId="0" sldId="262"/>
            <ac:spMk id="66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52.805" v="67" actId="478"/>
          <ac:spMkLst>
            <pc:docMk/>
            <pc:sldMk cId="0" sldId="262"/>
            <ac:spMk id="67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31.475" v="46" actId="478"/>
          <ac:spMkLst>
            <pc:docMk/>
            <pc:sldMk cId="0" sldId="262"/>
            <ac:spMk id="68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37.297" v="51" actId="478"/>
          <ac:spMkLst>
            <pc:docMk/>
            <pc:sldMk cId="0" sldId="262"/>
            <ac:spMk id="69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35.243" v="49" actId="478"/>
          <ac:spMkLst>
            <pc:docMk/>
            <pc:sldMk cId="0" sldId="262"/>
            <ac:spMk id="70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39.436" v="53" actId="478"/>
          <ac:spMkLst>
            <pc:docMk/>
            <pc:sldMk cId="0" sldId="262"/>
            <ac:spMk id="71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9.100" v="64" actId="478"/>
          <ac:spMkLst>
            <pc:docMk/>
            <pc:sldMk cId="0" sldId="262"/>
            <ac:spMk id="72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7.817" v="63" actId="478"/>
          <ac:spMkLst>
            <pc:docMk/>
            <pc:sldMk cId="0" sldId="262"/>
            <ac:spMk id="73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54.636" v="69" actId="478"/>
          <ac:spMkLst>
            <pc:docMk/>
            <pc:sldMk cId="0" sldId="262"/>
            <ac:spMk id="74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53.547" v="68" actId="478"/>
          <ac:spMkLst>
            <pc:docMk/>
            <pc:sldMk cId="0" sldId="262"/>
            <ac:spMk id="75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6.188" v="61" actId="478"/>
          <ac:spMkLst>
            <pc:docMk/>
            <pc:sldMk cId="0" sldId="262"/>
            <ac:spMk id="76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2.266" v="56" actId="478"/>
          <ac:spMkLst>
            <pc:docMk/>
            <pc:sldMk cId="0" sldId="262"/>
            <ac:spMk id="77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3.827" v="58" actId="478"/>
          <ac:spMkLst>
            <pc:docMk/>
            <pc:sldMk cId="0" sldId="262"/>
            <ac:spMk id="78" creationId="{00000000-0000-0000-0000-000000000000}"/>
          </ac:spMkLst>
        </pc:spChg>
        <pc:spChg chg="del">
          <ac:chgData name="Mohammod Tareq Aziz" userId="e22c9939-3df7-4788-a6e7-40f01eb1329b" providerId="ADAL" clId="{CF9CD514-A7D5-4266-93D2-8A0EE0C95B19}" dt="2025-06-19T03:30:40.314" v="54" actId="478"/>
          <ac:spMkLst>
            <pc:docMk/>
            <pc:sldMk cId="0" sldId="262"/>
            <ac:spMk id="79" creationId="{00000000-0000-0000-0000-000000000000}"/>
          </ac:spMkLst>
        </pc:spChg>
        <pc:grpChg chg="mod">
          <ac:chgData name="Mohammod Tareq Aziz" userId="e22c9939-3df7-4788-a6e7-40f01eb1329b" providerId="ADAL" clId="{CF9CD514-A7D5-4266-93D2-8A0EE0C95B19}" dt="2025-06-19T03:39:11.327" v="121" actId="1076"/>
          <ac:grpSpMkLst>
            <pc:docMk/>
            <pc:sldMk cId="0" sldId="262"/>
            <ac:grpSpMk id="26" creationId="{00000000-0000-0000-0000-000000000000}"/>
          </ac:grpSpMkLst>
        </pc:grpChg>
        <pc:grpChg chg="mod">
          <ac:chgData name="Mohammod Tareq Aziz" userId="e22c9939-3df7-4788-a6e7-40f01eb1329b" providerId="ADAL" clId="{CF9CD514-A7D5-4266-93D2-8A0EE0C95B19}" dt="2025-06-19T03:36:12.672" v="98" actId="1076"/>
          <ac:grpSpMkLst>
            <pc:docMk/>
            <pc:sldMk cId="0" sldId="262"/>
            <ac:grpSpMk id="29" creationId="{00000000-0000-0000-0000-000000000000}"/>
          </ac:grpSpMkLst>
        </pc:grpChg>
        <pc:cxnChg chg="add del">
          <ac:chgData name="Mohammod Tareq Aziz" userId="e22c9939-3df7-4788-a6e7-40f01eb1329b" providerId="ADAL" clId="{CF9CD514-A7D5-4266-93D2-8A0EE0C95B19}" dt="2025-06-19T03:30:28.306" v="45" actId="478"/>
          <ac:cxnSpMkLst>
            <pc:docMk/>
            <pc:sldMk cId="0" sldId="262"/>
            <ac:cxnSpMk id="81" creationId="{1B0C1F80-324C-9470-4A35-3E2B26639FCF}"/>
          </ac:cxnSpMkLst>
        </pc:cxnChg>
        <pc:cxnChg chg="add del mod">
          <ac:chgData name="Mohammod Tareq Aziz" userId="e22c9939-3df7-4788-a6e7-40f01eb1329b" providerId="ADAL" clId="{CF9CD514-A7D5-4266-93D2-8A0EE0C95B19}" dt="2025-06-19T03:32:14.192" v="76" actId="478"/>
          <ac:cxnSpMkLst>
            <pc:docMk/>
            <pc:sldMk cId="0" sldId="262"/>
            <ac:cxnSpMk id="83" creationId="{F52E8B6B-E42B-1FC4-4452-9B96F6F4BFCA}"/>
          </ac:cxnSpMkLst>
        </pc:cxnChg>
        <pc:cxnChg chg="add mod">
          <ac:chgData name="Mohammod Tareq Aziz" userId="e22c9939-3df7-4788-a6e7-40f01eb1329b" providerId="ADAL" clId="{CF9CD514-A7D5-4266-93D2-8A0EE0C95B19}" dt="2025-06-19T03:39:30.415" v="124" actId="14100"/>
          <ac:cxnSpMkLst>
            <pc:docMk/>
            <pc:sldMk cId="0" sldId="262"/>
            <ac:cxnSpMk id="85" creationId="{2D375470-28AD-7C4C-E0DE-252DBEFD7694}"/>
          </ac:cxnSpMkLst>
        </pc:cxnChg>
        <pc:cxnChg chg="add mod">
          <ac:chgData name="Mohammod Tareq Aziz" userId="e22c9939-3df7-4788-a6e7-40f01eb1329b" providerId="ADAL" clId="{CF9CD514-A7D5-4266-93D2-8A0EE0C95B19}" dt="2025-06-19T03:36:52.055" v="104" actId="14100"/>
          <ac:cxnSpMkLst>
            <pc:docMk/>
            <pc:sldMk cId="0" sldId="262"/>
            <ac:cxnSpMk id="86" creationId="{13425CF5-88E2-4717-7185-D2C0B7E6335F}"/>
          </ac:cxnSpMkLst>
        </pc:cxnChg>
        <pc:cxnChg chg="add mod">
          <ac:chgData name="Mohammod Tareq Aziz" userId="e22c9939-3df7-4788-a6e7-40f01eb1329b" providerId="ADAL" clId="{CF9CD514-A7D5-4266-93D2-8A0EE0C95B19}" dt="2025-06-19T03:39:22.471" v="123" actId="14100"/>
          <ac:cxnSpMkLst>
            <pc:docMk/>
            <pc:sldMk cId="0" sldId="262"/>
            <ac:cxnSpMk id="90" creationId="{10DB69EF-3C44-E587-A1F0-EB6A17AA411F}"/>
          </ac:cxnSpMkLst>
        </pc:cxnChg>
        <pc:cxnChg chg="add mod">
          <ac:chgData name="Mohammod Tareq Aziz" userId="e22c9939-3df7-4788-a6e7-40f01eb1329b" providerId="ADAL" clId="{CF9CD514-A7D5-4266-93D2-8A0EE0C95B19}" dt="2025-06-19T03:38:49.550" v="118" actId="14100"/>
          <ac:cxnSpMkLst>
            <pc:docMk/>
            <pc:sldMk cId="0" sldId="262"/>
            <ac:cxnSpMk id="99" creationId="{4FBC4841-E85A-2DE4-0807-5974847CF97E}"/>
          </ac:cxnSpMkLst>
        </pc:cxnChg>
        <pc:cxnChg chg="add mod">
          <ac:chgData name="Mohammod Tareq Aziz" userId="e22c9939-3df7-4788-a6e7-40f01eb1329b" providerId="ADAL" clId="{CF9CD514-A7D5-4266-93D2-8A0EE0C95B19}" dt="2025-06-19T03:37:46.384" v="111" actId="14100"/>
          <ac:cxnSpMkLst>
            <pc:docMk/>
            <pc:sldMk cId="0" sldId="262"/>
            <ac:cxnSpMk id="102" creationId="{91C5FB35-3BB0-E116-B90C-17D9758C6A70}"/>
          </ac:cxnSpMkLst>
        </pc:cxnChg>
        <pc:cxnChg chg="add mod">
          <ac:chgData name="Mohammod Tareq Aziz" userId="e22c9939-3df7-4788-a6e7-40f01eb1329b" providerId="ADAL" clId="{CF9CD514-A7D5-4266-93D2-8A0EE0C95B19}" dt="2025-06-19T03:39:42.090" v="126" actId="1076"/>
          <ac:cxnSpMkLst>
            <pc:docMk/>
            <pc:sldMk cId="0" sldId="262"/>
            <ac:cxnSpMk id="105" creationId="{EA2CF344-60AB-EA52-9C66-4AAD0DB6F23C}"/>
          </ac:cxnSpMkLst>
        </pc:cxnChg>
        <pc:cxnChg chg="add del mod">
          <ac:chgData name="Mohammod Tareq Aziz" userId="e22c9939-3df7-4788-a6e7-40f01eb1329b" providerId="ADAL" clId="{CF9CD514-A7D5-4266-93D2-8A0EE0C95B19}" dt="2025-06-19T03:40:21.789" v="138" actId="478"/>
          <ac:cxnSpMkLst>
            <pc:docMk/>
            <pc:sldMk cId="0" sldId="262"/>
            <ac:cxnSpMk id="116" creationId="{47938D28-3451-4B66-601C-7FC8624A014C}"/>
          </ac:cxnSpMkLst>
        </pc:cxnChg>
        <pc:cxnChg chg="add mod">
          <ac:chgData name="Mohammod Tareq Aziz" userId="e22c9939-3df7-4788-a6e7-40f01eb1329b" providerId="ADAL" clId="{CF9CD514-A7D5-4266-93D2-8A0EE0C95B19}" dt="2025-06-19T03:40:31.824" v="140" actId="1076"/>
          <ac:cxnSpMkLst>
            <pc:docMk/>
            <pc:sldMk cId="0" sldId="262"/>
            <ac:cxnSpMk id="125" creationId="{16AD4076-97BE-983A-911E-AF3F27318F02}"/>
          </ac:cxnSpMkLst>
        </pc:cxnChg>
        <pc:cxnChg chg="add mod">
          <ac:chgData name="Mohammod Tareq Aziz" userId="e22c9939-3df7-4788-a6e7-40f01eb1329b" providerId="ADAL" clId="{CF9CD514-A7D5-4266-93D2-8A0EE0C95B19}" dt="2025-06-19T03:42:15.830" v="156" actId="1076"/>
          <ac:cxnSpMkLst>
            <pc:docMk/>
            <pc:sldMk cId="0" sldId="262"/>
            <ac:cxnSpMk id="126" creationId="{1DD5A8BB-81D7-68D9-2AEB-970335E9D19A}"/>
          </ac:cxnSpMkLst>
        </pc:cxnChg>
        <pc:cxnChg chg="add mod">
          <ac:chgData name="Mohammod Tareq Aziz" userId="e22c9939-3df7-4788-a6e7-40f01eb1329b" providerId="ADAL" clId="{CF9CD514-A7D5-4266-93D2-8A0EE0C95B19}" dt="2025-06-19T03:41:57.575" v="153" actId="14100"/>
          <ac:cxnSpMkLst>
            <pc:docMk/>
            <pc:sldMk cId="0" sldId="262"/>
            <ac:cxnSpMk id="135" creationId="{54B45882-8148-5202-D2E9-755985561485}"/>
          </ac:cxnSpMkLst>
        </pc:cxnChg>
        <pc:cxnChg chg="add mod">
          <ac:chgData name="Mohammod Tareq Aziz" userId="e22c9939-3df7-4788-a6e7-40f01eb1329b" providerId="ADAL" clId="{CF9CD514-A7D5-4266-93D2-8A0EE0C95B19}" dt="2025-06-19T03:42:37.006" v="160" actId="14100"/>
          <ac:cxnSpMkLst>
            <pc:docMk/>
            <pc:sldMk cId="0" sldId="262"/>
            <ac:cxnSpMk id="138" creationId="{5527F948-BE16-B765-9614-FE8FF68CEE84}"/>
          </ac:cxnSpMkLst>
        </pc:cxnChg>
        <pc:cxnChg chg="add mod">
          <ac:chgData name="Mohammod Tareq Aziz" userId="e22c9939-3df7-4788-a6e7-40f01eb1329b" providerId="ADAL" clId="{CF9CD514-A7D5-4266-93D2-8A0EE0C95B19}" dt="2025-06-19T03:43:00.358" v="166" actId="14100"/>
          <ac:cxnSpMkLst>
            <pc:docMk/>
            <pc:sldMk cId="0" sldId="262"/>
            <ac:cxnSpMk id="142" creationId="{44687066-DF24-3088-0BE5-127AEF85D54D}"/>
          </ac:cxnSpMkLst>
        </pc:cxnChg>
        <pc:cxnChg chg="add mod">
          <ac:chgData name="Mohammod Tareq Aziz" userId="e22c9939-3df7-4788-a6e7-40f01eb1329b" providerId="ADAL" clId="{CF9CD514-A7D5-4266-93D2-8A0EE0C95B19}" dt="2025-06-19T03:43:25.454" v="169" actId="14100"/>
          <ac:cxnSpMkLst>
            <pc:docMk/>
            <pc:sldMk cId="0" sldId="262"/>
            <ac:cxnSpMk id="146" creationId="{75AB62EB-1FBB-EFD5-007D-FB83AEE2C35C}"/>
          </ac:cxnSpMkLst>
        </pc:cxnChg>
      </pc:sldChg>
      <pc:sldChg chg="modAnim">
        <pc:chgData name="Mohammod Tareq Aziz" userId="e22c9939-3df7-4788-a6e7-40f01eb1329b" providerId="ADAL" clId="{CF9CD514-A7D5-4266-93D2-8A0EE0C95B19}" dt="2025-06-19T03:45:57.248" v="173"/>
        <pc:sldMkLst>
          <pc:docMk/>
          <pc:sldMk cId="0" sldId="263"/>
        </pc:sldMkLst>
      </pc:sldChg>
      <pc:sldChg chg="modAnim">
        <pc:chgData name="Mohammod Tareq Aziz" userId="e22c9939-3df7-4788-a6e7-40f01eb1329b" providerId="ADAL" clId="{CF9CD514-A7D5-4266-93D2-8A0EE0C95B19}" dt="2025-06-19T03:46:22.168" v="177"/>
        <pc:sldMkLst>
          <pc:docMk/>
          <pc:sldMk cId="0" sldId="264"/>
        </pc:sldMkLst>
      </pc:sldChg>
      <pc:sldChg chg="modAnim">
        <pc:chgData name="Mohammod Tareq Aziz" userId="e22c9939-3df7-4788-a6e7-40f01eb1329b" providerId="ADAL" clId="{CF9CD514-A7D5-4266-93D2-8A0EE0C95B19}" dt="2025-06-19T03:47:45.760" v="185"/>
        <pc:sldMkLst>
          <pc:docMk/>
          <pc:sldMk cId="0" sldId="265"/>
        </pc:sldMkLst>
      </pc:sldChg>
      <pc:sldChg chg="modAnim">
        <pc:chgData name="Mohammod Tareq Aziz" userId="e22c9939-3df7-4788-a6e7-40f01eb1329b" providerId="ADAL" clId="{CF9CD514-A7D5-4266-93D2-8A0EE0C95B19}" dt="2025-06-19T03:48:12.936" v="189"/>
        <pc:sldMkLst>
          <pc:docMk/>
          <pc:sldMk cId="0" sldId="266"/>
        </pc:sldMkLst>
      </pc:sldChg>
      <pc:sldChg chg="modAnim">
        <pc:chgData name="Mohammod Tareq Aziz" userId="e22c9939-3df7-4788-a6e7-40f01eb1329b" providerId="ADAL" clId="{CF9CD514-A7D5-4266-93D2-8A0EE0C95B19}" dt="2025-06-19T03:48:34.825" v="193"/>
        <pc:sldMkLst>
          <pc:docMk/>
          <pc:sldMk cId="0" sldId="267"/>
        </pc:sldMkLst>
      </pc:sldChg>
      <pc:sldChg chg="modAnim">
        <pc:chgData name="Mohammod Tareq Aziz" userId="e22c9939-3df7-4788-a6e7-40f01eb1329b" providerId="ADAL" clId="{CF9CD514-A7D5-4266-93D2-8A0EE0C95B19}" dt="2025-06-19T03:48:50.392" v="197"/>
        <pc:sldMkLst>
          <pc:docMk/>
          <pc:sldMk cId="0" sldId="268"/>
        </pc:sldMkLst>
      </pc:sldChg>
      <pc:sldChg chg="modAnim">
        <pc:chgData name="Mohammod Tareq Aziz" userId="e22c9939-3df7-4788-a6e7-40f01eb1329b" providerId="ADAL" clId="{CF9CD514-A7D5-4266-93D2-8A0EE0C95B19}" dt="2025-06-19T03:49:17.985" v="203"/>
        <pc:sldMkLst>
          <pc:docMk/>
          <pc:sldMk cId="0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19-Jun-25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504690" y="-1328448"/>
            <a:ext cx="25335479" cy="12943897"/>
            <a:chOff x="0" y="0"/>
            <a:chExt cx="33780639" cy="17258529"/>
          </a:xfrm>
        </p:grpSpPr>
        <p:sp>
          <p:nvSpPr>
            <p:cNvPr id="3" name="Freeform 3"/>
            <p:cNvSpPr/>
            <p:nvPr/>
          </p:nvSpPr>
          <p:spPr>
            <a:xfrm>
              <a:off x="22695232" y="9100177"/>
              <a:ext cx="6644427" cy="6644427"/>
            </a:xfrm>
            <a:custGeom>
              <a:avLst/>
              <a:gdLst/>
              <a:ahLst/>
              <a:cxnLst/>
              <a:rect l="l" t="t" r="r" b="b"/>
              <a:pathLst>
                <a:path w="6644427" h="6644427">
                  <a:moveTo>
                    <a:pt x="0" y="0"/>
                  </a:moveTo>
                  <a:lnTo>
                    <a:pt x="6644427" y="0"/>
                  </a:lnTo>
                  <a:lnTo>
                    <a:pt x="6644427" y="6644427"/>
                  </a:lnTo>
                  <a:lnTo>
                    <a:pt x="0" y="664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4415246" y="1513925"/>
              <a:ext cx="6644427" cy="6644427"/>
            </a:xfrm>
            <a:custGeom>
              <a:avLst/>
              <a:gdLst/>
              <a:ahLst/>
              <a:cxnLst/>
              <a:rect l="l" t="t" r="r" b="b"/>
              <a:pathLst>
                <a:path w="6644427" h="6644427">
                  <a:moveTo>
                    <a:pt x="0" y="0"/>
                  </a:moveTo>
                  <a:lnTo>
                    <a:pt x="6644427" y="0"/>
                  </a:lnTo>
                  <a:lnTo>
                    <a:pt x="6644427" y="6644427"/>
                  </a:lnTo>
                  <a:lnTo>
                    <a:pt x="0" y="664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3788924" y="10193869"/>
              <a:ext cx="5293395" cy="5293395"/>
            </a:xfrm>
            <a:custGeom>
              <a:avLst/>
              <a:gdLst/>
              <a:ahLst/>
              <a:cxnLst/>
              <a:rect l="l" t="t" r="r" b="b"/>
              <a:pathLst>
                <a:path w="5293395" h="5293395">
                  <a:moveTo>
                    <a:pt x="0" y="0"/>
                  </a:moveTo>
                  <a:lnTo>
                    <a:pt x="5293395" y="0"/>
                  </a:lnTo>
                  <a:lnTo>
                    <a:pt x="5293395" y="5293395"/>
                  </a:lnTo>
                  <a:lnTo>
                    <a:pt x="0" y="52933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2700000">
              <a:off x="25760106" y="4820034"/>
              <a:ext cx="6644427" cy="6644427"/>
            </a:xfrm>
            <a:custGeom>
              <a:avLst/>
              <a:gdLst/>
              <a:ahLst/>
              <a:cxnLst/>
              <a:rect l="l" t="t" r="r" b="b"/>
              <a:pathLst>
                <a:path w="6644427" h="6644427">
                  <a:moveTo>
                    <a:pt x="0" y="0"/>
                  </a:moveTo>
                  <a:lnTo>
                    <a:pt x="6644427" y="0"/>
                  </a:lnTo>
                  <a:lnTo>
                    <a:pt x="6644427" y="6644427"/>
                  </a:lnTo>
                  <a:lnTo>
                    <a:pt x="0" y="664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10800000">
              <a:off x="4698319" y="1771264"/>
              <a:ext cx="5293395" cy="5293395"/>
            </a:xfrm>
            <a:custGeom>
              <a:avLst/>
              <a:gdLst/>
              <a:ahLst/>
              <a:cxnLst/>
              <a:rect l="l" t="t" r="r" b="b"/>
              <a:pathLst>
                <a:path w="5293395" h="5293395">
                  <a:moveTo>
                    <a:pt x="0" y="0"/>
                  </a:moveTo>
                  <a:lnTo>
                    <a:pt x="5293396" y="0"/>
                  </a:lnTo>
                  <a:lnTo>
                    <a:pt x="5293396" y="5293396"/>
                  </a:lnTo>
                  <a:lnTo>
                    <a:pt x="0" y="5293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-2700000" flipH="1" flipV="1">
              <a:off x="1376106" y="5678194"/>
              <a:ext cx="6644427" cy="6644427"/>
            </a:xfrm>
            <a:custGeom>
              <a:avLst/>
              <a:gdLst/>
              <a:ahLst/>
              <a:cxnLst/>
              <a:rect l="l" t="t" r="r" b="b"/>
              <a:pathLst>
                <a:path w="6644427" h="6644427">
                  <a:moveTo>
                    <a:pt x="6644427" y="6644427"/>
                  </a:moveTo>
                  <a:lnTo>
                    <a:pt x="0" y="6644427"/>
                  </a:lnTo>
                  <a:lnTo>
                    <a:pt x="0" y="0"/>
                  </a:lnTo>
                  <a:lnTo>
                    <a:pt x="6644427" y="0"/>
                  </a:lnTo>
                  <a:lnTo>
                    <a:pt x="6644427" y="6644427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907519" y="0"/>
              <a:ext cx="3581601" cy="3542529"/>
            </a:xfrm>
            <a:custGeom>
              <a:avLst/>
              <a:gdLst/>
              <a:ahLst/>
              <a:cxnLst/>
              <a:rect l="l" t="t" r="r" b="b"/>
              <a:pathLst>
                <a:path w="3581601" h="3542529">
                  <a:moveTo>
                    <a:pt x="0" y="0"/>
                  </a:moveTo>
                  <a:lnTo>
                    <a:pt x="3581601" y="0"/>
                  </a:lnTo>
                  <a:lnTo>
                    <a:pt x="3581601" y="3542529"/>
                  </a:lnTo>
                  <a:lnTo>
                    <a:pt x="0" y="3542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>
              <a:off x="27291519" y="13716000"/>
              <a:ext cx="3581601" cy="3542529"/>
            </a:xfrm>
            <a:custGeom>
              <a:avLst/>
              <a:gdLst/>
              <a:ahLst/>
              <a:cxnLst/>
              <a:rect l="l" t="t" r="r" b="b"/>
              <a:pathLst>
                <a:path w="3581601" h="3542529">
                  <a:moveTo>
                    <a:pt x="0" y="0"/>
                  </a:moveTo>
                  <a:lnTo>
                    <a:pt x="3581601" y="0"/>
                  </a:lnTo>
                  <a:lnTo>
                    <a:pt x="3581601" y="3542529"/>
                  </a:lnTo>
                  <a:lnTo>
                    <a:pt x="0" y="3542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5811118" y="4417962"/>
              <a:ext cx="2549081" cy="310524"/>
            </a:xfrm>
            <a:custGeom>
              <a:avLst/>
              <a:gdLst/>
              <a:ahLst/>
              <a:cxnLst/>
              <a:rect l="l" t="t" r="r" b="b"/>
              <a:pathLst>
                <a:path w="2549081" h="310524">
                  <a:moveTo>
                    <a:pt x="0" y="0"/>
                  </a:moveTo>
                  <a:lnTo>
                    <a:pt x="2549081" y="0"/>
                  </a:lnTo>
                  <a:lnTo>
                    <a:pt x="2549081" y="310524"/>
                  </a:lnTo>
                  <a:lnTo>
                    <a:pt x="0" y="310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25600515" y="12530042"/>
              <a:ext cx="2549081" cy="310524"/>
            </a:xfrm>
            <a:custGeom>
              <a:avLst/>
              <a:gdLst/>
              <a:ahLst/>
              <a:cxnLst/>
              <a:rect l="l" t="t" r="r" b="b"/>
              <a:pathLst>
                <a:path w="2549081" h="310524">
                  <a:moveTo>
                    <a:pt x="0" y="0"/>
                  </a:moveTo>
                  <a:lnTo>
                    <a:pt x="2549080" y="0"/>
                  </a:lnTo>
                  <a:lnTo>
                    <a:pt x="2549080" y="310525"/>
                  </a:lnTo>
                  <a:lnTo>
                    <a:pt x="0" y="310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6069919" y="13495256"/>
              <a:ext cx="4014404" cy="1240816"/>
            </a:xfrm>
            <a:custGeom>
              <a:avLst/>
              <a:gdLst/>
              <a:ahLst/>
              <a:cxnLst/>
              <a:rect l="l" t="t" r="r" b="b"/>
              <a:pathLst>
                <a:path w="4014404" h="1240816">
                  <a:moveTo>
                    <a:pt x="0" y="0"/>
                  </a:moveTo>
                  <a:lnTo>
                    <a:pt x="4014405" y="0"/>
                  </a:lnTo>
                  <a:lnTo>
                    <a:pt x="4014405" y="1240816"/>
                  </a:lnTo>
                  <a:lnTo>
                    <a:pt x="0" y="1240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3696315" y="2522456"/>
              <a:ext cx="4014404" cy="1240816"/>
            </a:xfrm>
            <a:custGeom>
              <a:avLst/>
              <a:gdLst/>
              <a:ahLst/>
              <a:cxnLst/>
              <a:rect l="l" t="t" r="r" b="b"/>
              <a:pathLst>
                <a:path w="4014404" h="1240816">
                  <a:moveTo>
                    <a:pt x="4014404" y="0"/>
                  </a:moveTo>
                  <a:lnTo>
                    <a:pt x="0" y="0"/>
                  </a:lnTo>
                  <a:lnTo>
                    <a:pt x="0" y="1240816"/>
                  </a:lnTo>
                  <a:lnTo>
                    <a:pt x="4014404" y="1240816"/>
                  </a:lnTo>
                  <a:lnTo>
                    <a:pt x="4014404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4428362" y="1662008"/>
            <a:ext cx="12698094" cy="201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CONTEXT-AWARE ZERO-SHOT ANOMALY DETECTION IN SURVEILLANCE USING CONTRASTIVE AND PREDICTIVE SPATIOTEMPORAL MODELING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17224" y="4603114"/>
            <a:ext cx="4740516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GROUP ID: T2420331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17224" y="5561860"/>
            <a:ext cx="7193759" cy="175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PRESENTED BY: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MD. ABRAR HASAN (23241115)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MD. RASHID SHAHRIAR KHAN (21201585)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MOHAMMOD TAREQ AZIZ JUSTICE (20101557)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082451" y="8072459"/>
            <a:ext cx="6369140" cy="1755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SUPERVISED BY: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MD. ASHRAFUL ALAM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ASSOCIATE PROFESSOR,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OF CSE, BRAC UNIVERSITY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6366890" y="806040"/>
            <a:ext cx="5538711" cy="1030616"/>
            <a:chOff x="0" y="0"/>
            <a:chExt cx="1666785" cy="31014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666785" cy="310147"/>
            </a:xfrm>
            <a:custGeom>
              <a:avLst/>
              <a:gdLst/>
              <a:ahLst/>
              <a:cxnLst/>
              <a:rect l="l" t="t" r="r" b="b"/>
              <a:pathLst>
                <a:path w="1666785" h="310147">
                  <a:moveTo>
                    <a:pt x="0" y="0"/>
                  </a:moveTo>
                  <a:lnTo>
                    <a:pt x="1666785" y="0"/>
                  </a:lnTo>
                  <a:lnTo>
                    <a:pt x="1666785" y="310147"/>
                  </a:lnTo>
                  <a:lnTo>
                    <a:pt x="0" y="310147"/>
                  </a:ln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100000"/>
                  </a:srgbClr>
                </a:gs>
                <a:gs pos="100000">
                  <a:srgbClr val="55555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1666785" cy="3672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23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765987" y="846327"/>
            <a:ext cx="4740516" cy="816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20"/>
              </a:lnSpc>
              <a:spcBef>
                <a:spcPct val="0"/>
              </a:spcBef>
            </a:pPr>
            <a:r>
              <a:rPr lang="en-US" sz="451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id="19" name="AutoShape 19"/>
          <p:cNvSpPr/>
          <p:nvPr/>
        </p:nvSpPr>
        <p:spPr>
          <a:xfrm>
            <a:off x="7891929" y="2296958"/>
            <a:ext cx="2504141" cy="0"/>
          </a:xfrm>
          <a:prstGeom prst="line">
            <a:avLst/>
          </a:prstGeom>
          <a:ln w="114300" cap="rnd">
            <a:solidFill>
              <a:srgbClr val="000000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2139679" y="3162339"/>
            <a:ext cx="5329714" cy="587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Background of the Study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Research Objective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Contributions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Proposed Model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 Preprocessing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528221" y="3162339"/>
            <a:ext cx="6731079" cy="5876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Design Implementation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Result Analysis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Comparisons with Other Models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Future Works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Conclusions</a:t>
            </a:r>
          </a:p>
          <a:p>
            <a:pPr algn="l">
              <a:lnSpc>
                <a:spcPts val="4203"/>
              </a:lnSpc>
            </a:pPr>
            <a:endParaRPr lang="en-US" sz="30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648200" lvl="1" indent="-324100" algn="l">
              <a:lnSpc>
                <a:spcPts val="4203"/>
              </a:lnSpc>
              <a:buFont typeface="Arial"/>
              <a:buChar char="•"/>
            </a:pPr>
            <a:r>
              <a:rPr lang="en-US" sz="30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BACKGROUND OF THE STUDY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02967" y="2488141"/>
            <a:ext cx="16082065" cy="1250891"/>
            <a:chOff x="0" y="0"/>
            <a:chExt cx="21442754" cy="1667854"/>
          </a:xfrm>
        </p:grpSpPr>
        <p:sp>
          <p:nvSpPr>
            <p:cNvPr id="21" name="TextBox 21"/>
            <p:cNvSpPr txBox="1"/>
            <p:nvPr/>
          </p:nvSpPr>
          <p:spPr>
            <a:xfrm>
              <a:off x="1495068" y="-76200"/>
              <a:ext cx="19947686" cy="1744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Context-Aware Zero-Shot Anomaly Detection in Surveillance automatically flags unusual events in real-time by fusing contrastive language–vision alignment with predictive spatiotemporal modeling.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76200"/>
              <a:ext cx="1297021" cy="1015094"/>
              <a:chOff x="0" y="0"/>
              <a:chExt cx="568927" cy="4452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3596" y="2357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02967" y="3890175"/>
            <a:ext cx="16082065" cy="812741"/>
            <a:chOff x="0" y="0"/>
            <a:chExt cx="21442754" cy="1083654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Anomalies in surveillance are rare and diverse, occurring infrequently among the hours of normal activity, which makes learning and detection challenging.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02967" y="5073530"/>
            <a:ext cx="16082065" cy="812741"/>
            <a:chOff x="0" y="0"/>
            <a:chExt cx="21442754" cy="1083654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Defining “normal” vs “abnormal” is context-dependent: an action may be normal in one environment but anomalous in another, highlighting the need for context awareness.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02967" y="6256885"/>
            <a:ext cx="16082065" cy="816536"/>
            <a:chOff x="0" y="0"/>
            <a:chExt cx="21442754" cy="1088715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95068" y="-71139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Traditional methods learn only generic normal patterns and often assume a fixed context, leading to false alarms or missed events when the scene or camera setting changes.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2967" y="7444036"/>
            <a:ext cx="16082065" cy="812741"/>
            <a:chOff x="0" y="0"/>
            <a:chExt cx="21442754" cy="1083654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Video transformers and contrastive learning offer new tools to model spatiotemporal data and semantic information, enabling anomaly detection without extensive labeled examples.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PROBLEM STATEMENTS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77235" y="2777158"/>
            <a:ext cx="16082065" cy="818470"/>
            <a:chOff x="0" y="0"/>
            <a:chExt cx="21442754" cy="1091294"/>
          </a:xfrm>
        </p:grpSpPr>
        <p:sp>
          <p:nvSpPr>
            <p:cNvPr id="21" name="TextBox 21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Surveillance cameras generate massive footage, but manually reviewing them is infeasible for threat detection.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76200"/>
              <a:ext cx="1297021" cy="1015094"/>
              <a:chOff x="0" y="0"/>
              <a:chExt cx="568927" cy="4452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3596" y="2357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77235" y="3873721"/>
            <a:ext cx="16082065" cy="812741"/>
            <a:chOff x="0" y="0"/>
            <a:chExt cx="21442754" cy="1083654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Anomalous events are rare, unpredictable, and vary significantly across locations and time, making them difficult to define or collect exhaustively.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7235" y="4964554"/>
            <a:ext cx="16082065" cy="812741"/>
            <a:chOff x="0" y="0"/>
            <a:chExt cx="21442754" cy="1083654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Supervised models struggle to generalize across different surveillance environments, leading to poor performance in unseen scenarios.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77235" y="6055388"/>
            <a:ext cx="16082065" cy="816536"/>
            <a:chOff x="0" y="0"/>
            <a:chExt cx="21442754" cy="1088715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95068" y="-71139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Traditional approaches often treat all deviations from normal motion or appearance as anomalies, which results in high false positive rates.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77235" y="7150017"/>
            <a:ext cx="16082065" cy="812741"/>
            <a:chOff x="0" y="0"/>
            <a:chExt cx="21442754" cy="1083654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Lack of environmental context causes models to misclassify contextually appropriate behavior as anomalous.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77235" y="8240850"/>
            <a:ext cx="16082065" cy="812741"/>
            <a:chOff x="0" y="0"/>
            <a:chExt cx="21442754" cy="1083654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Most systems cannot detect conceptually or semantically unusual activities (e.g., behavior that "looks normal" visually but is inappropriate for the scene).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RESEARCH OBJECTIVES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77235" y="2777158"/>
            <a:ext cx="16082065" cy="818470"/>
            <a:chOff x="0" y="0"/>
            <a:chExt cx="21442754" cy="1091294"/>
          </a:xfrm>
        </p:grpSpPr>
        <p:sp>
          <p:nvSpPr>
            <p:cNvPr id="21" name="TextBox 21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 design a video anomaly detection model that operates in a zero-shot setting, using only normal surveillance data during training.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76200"/>
              <a:ext cx="1297021" cy="1015094"/>
              <a:chOff x="0" y="0"/>
              <a:chExt cx="568927" cy="4452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3596" y="2357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77235" y="3873721"/>
            <a:ext cx="16082065" cy="812741"/>
            <a:chOff x="0" y="0"/>
            <a:chExt cx="21442754" cy="1083654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 develop a unified architecture capable of modeling complex spatiotemporal dynamics in surveillance videos without the need for object tracking.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7235" y="4964554"/>
            <a:ext cx="16082065" cy="812741"/>
            <a:chOff x="0" y="0"/>
            <a:chExt cx="21442754" cy="1083654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 integrate predictive temporal modeling that captures and forecasts normal motion sequences using self-supervised learning.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77235" y="6055388"/>
            <a:ext cx="16082065" cy="816536"/>
            <a:chOff x="0" y="0"/>
            <a:chExt cx="21442754" cy="1088715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95068" y="-71139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 leverage vision-language models (CLIP) for semantic alignment, allowing the system to detect anomalies based on high-level context understanding.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77235" y="7150017"/>
            <a:ext cx="16082065" cy="812741"/>
            <a:chOff x="0" y="0"/>
            <a:chExt cx="21442754" cy="1083654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 implement a context-conditioning mechanism that adjusts anomaly detection thresholds according to scene type and environment.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77235" y="8240850"/>
            <a:ext cx="16082065" cy="812741"/>
            <a:chOff x="0" y="0"/>
            <a:chExt cx="21442754" cy="1083654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To provide a modular and scalable framework that can be easily extended or deployed without retraining for every new camera or environment.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OUR CONTRIBUTIONS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77235" y="2242456"/>
            <a:ext cx="16082065" cy="1250891"/>
            <a:chOff x="0" y="0"/>
            <a:chExt cx="21442754" cy="1667854"/>
          </a:xfrm>
        </p:grpSpPr>
        <p:sp>
          <p:nvSpPr>
            <p:cNvPr id="21" name="TextBox 21"/>
            <p:cNvSpPr txBox="1"/>
            <p:nvPr/>
          </p:nvSpPr>
          <p:spPr>
            <a:xfrm>
              <a:off x="1495068" y="-76200"/>
              <a:ext cx="19947686" cy="1744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Zero-Shot Framework: </a:t>
              </a: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Introduced a context-aware anomaly detection framework that requires no anomalous training data, combining contrastive and predictive spatiotemporal modeling to detect unseen events.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76200"/>
              <a:ext cx="1297021" cy="1015094"/>
              <a:chOff x="0" y="0"/>
              <a:chExt cx="568927" cy="4452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3596" y="2357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77235" y="3757832"/>
            <a:ext cx="16082065" cy="812741"/>
            <a:chOff x="0" y="0"/>
            <a:chExt cx="21442754" cy="1083654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Transformer Architecture:</a:t>
              </a: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Designed a unified and modular single-stream model using a TimeSformer backbone to jointly capture spatial and temporal features.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177235" y="4897574"/>
            <a:ext cx="16082065" cy="812741"/>
            <a:chOff x="0" y="0"/>
            <a:chExt cx="21442754" cy="1083654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95068" y="-76200"/>
              <a:ext cx="19947686" cy="11598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Predictive Normalcy Modeling:</a:t>
              </a: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Integrated a Contrastive Predictive Coding (CPC) module to learn normal spatiotemporal dynamics by forecasting future representations.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177235" y="6037316"/>
            <a:ext cx="16082065" cy="1254686"/>
            <a:chOff x="0" y="0"/>
            <a:chExt cx="21442754" cy="1672915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95068" y="-71139"/>
              <a:ext cx="19947686" cy="1744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Semantic Context Alignment:</a:t>
              </a: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Leveraged CLIP within the pipeline to inject high-level semantic context, aligning video features with broader knowledge so the model can discern concept level anomalies in context.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77235" y="7558702"/>
            <a:ext cx="16082065" cy="1250891"/>
            <a:chOff x="0" y="0"/>
            <a:chExt cx="21442754" cy="1667854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1297021" cy="1015094"/>
              <a:chOff x="0" y="0"/>
              <a:chExt cx="568927" cy="44526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103596" y="15956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495068" y="-76200"/>
              <a:ext cx="19947686" cy="17440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Context-Conditioning Mechanism:</a:t>
              </a: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Developed a method to condition the model on environment context (scene information) to adapt anomaly detection sensitivity to each camera setting, markedly reducing context-specific false alarms.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PROPOSED MODEL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71961" y="2115063"/>
            <a:ext cx="2007794" cy="1375015"/>
            <a:chOff x="0" y="0"/>
            <a:chExt cx="528802" cy="36214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28802" cy="362144"/>
            </a:xfrm>
            <a:custGeom>
              <a:avLst/>
              <a:gdLst/>
              <a:ahLst/>
              <a:cxnLst/>
              <a:rect l="l" t="t" r="r" b="b"/>
              <a:pathLst>
                <a:path w="528802" h="362144">
                  <a:moveTo>
                    <a:pt x="181072" y="0"/>
                  </a:moveTo>
                  <a:lnTo>
                    <a:pt x="347730" y="0"/>
                  </a:lnTo>
                  <a:cubicBezTo>
                    <a:pt x="447733" y="0"/>
                    <a:pt x="528802" y="81069"/>
                    <a:pt x="528802" y="181072"/>
                  </a:cubicBezTo>
                  <a:lnTo>
                    <a:pt x="528802" y="181072"/>
                  </a:lnTo>
                  <a:cubicBezTo>
                    <a:pt x="528802" y="281075"/>
                    <a:pt x="447733" y="362144"/>
                    <a:pt x="347730" y="362144"/>
                  </a:cubicBezTo>
                  <a:lnTo>
                    <a:pt x="181072" y="362144"/>
                  </a:lnTo>
                  <a:cubicBezTo>
                    <a:pt x="81069" y="362144"/>
                    <a:pt x="0" y="281075"/>
                    <a:pt x="0" y="181072"/>
                  </a:cubicBezTo>
                  <a:lnTo>
                    <a:pt x="0" y="181072"/>
                  </a:lnTo>
                  <a:cubicBezTo>
                    <a:pt x="0" y="81069"/>
                    <a:pt x="81069" y="0"/>
                    <a:pt x="18107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66675"/>
              <a:ext cx="528802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Video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Input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70430" y="2115063"/>
            <a:ext cx="2529482" cy="1375015"/>
            <a:chOff x="0" y="0"/>
            <a:chExt cx="666201" cy="36214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6201" cy="362144"/>
            </a:xfrm>
            <a:custGeom>
              <a:avLst/>
              <a:gdLst/>
              <a:ahLst/>
              <a:cxnLst/>
              <a:rect l="l" t="t" r="r" b="b"/>
              <a:pathLst>
                <a:path w="666201" h="362144">
                  <a:moveTo>
                    <a:pt x="156094" y="0"/>
                  </a:moveTo>
                  <a:lnTo>
                    <a:pt x="510107" y="0"/>
                  </a:lnTo>
                  <a:cubicBezTo>
                    <a:pt x="551505" y="0"/>
                    <a:pt x="591209" y="16446"/>
                    <a:pt x="620482" y="45719"/>
                  </a:cubicBezTo>
                  <a:cubicBezTo>
                    <a:pt x="649755" y="74992"/>
                    <a:pt x="666201" y="114696"/>
                    <a:pt x="666201" y="156094"/>
                  </a:cubicBezTo>
                  <a:lnTo>
                    <a:pt x="666201" y="206049"/>
                  </a:lnTo>
                  <a:cubicBezTo>
                    <a:pt x="666201" y="247448"/>
                    <a:pt x="649755" y="287151"/>
                    <a:pt x="620482" y="316425"/>
                  </a:cubicBezTo>
                  <a:cubicBezTo>
                    <a:pt x="591209" y="345698"/>
                    <a:pt x="551505" y="362144"/>
                    <a:pt x="510107" y="362144"/>
                  </a:cubicBezTo>
                  <a:lnTo>
                    <a:pt x="156094" y="362144"/>
                  </a:lnTo>
                  <a:cubicBezTo>
                    <a:pt x="114696" y="362144"/>
                    <a:pt x="74992" y="345698"/>
                    <a:pt x="45719" y="316425"/>
                  </a:cubicBezTo>
                  <a:cubicBezTo>
                    <a:pt x="16446" y="287151"/>
                    <a:pt x="0" y="247448"/>
                    <a:pt x="0" y="206049"/>
                  </a:cubicBezTo>
                  <a:lnTo>
                    <a:pt x="0" y="156094"/>
                  </a:lnTo>
                  <a:cubicBezTo>
                    <a:pt x="0" y="114696"/>
                    <a:pt x="16446" y="74992"/>
                    <a:pt x="45719" y="45719"/>
                  </a:cubicBezTo>
                  <a:cubicBezTo>
                    <a:pt x="74992" y="16446"/>
                    <a:pt x="114696" y="0"/>
                    <a:pt x="1560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66675"/>
              <a:ext cx="666201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 err="1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TimeSformer</a:t>
              </a:r>
              <a:endParaRPr lang="en-US" sz="25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986526" y="4025513"/>
            <a:ext cx="1349419" cy="1375015"/>
            <a:chOff x="0" y="0"/>
            <a:chExt cx="355403" cy="362144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55403" cy="362144"/>
            </a:xfrm>
            <a:custGeom>
              <a:avLst/>
              <a:gdLst/>
              <a:ahLst/>
              <a:cxnLst/>
              <a:rect l="l" t="t" r="r" b="b"/>
              <a:pathLst>
                <a:path w="355403" h="362144">
                  <a:moveTo>
                    <a:pt x="177701" y="0"/>
                  </a:moveTo>
                  <a:lnTo>
                    <a:pt x="177701" y="0"/>
                  </a:lnTo>
                  <a:cubicBezTo>
                    <a:pt x="275843" y="0"/>
                    <a:pt x="355403" y="79560"/>
                    <a:pt x="355403" y="177701"/>
                  </a:cubicBezTo>
                  <a:lnTo>
                    <a:pt x="355403" y="184442"/>
                  </a:lnTo>
                  <a:cubicBezTo>
                    <a:pt x="355403" y="282584"/>
                    <a:pt x="275843" y="362144"/>
                    <a:pt x="177701" y="362144"/>
                  </a:cubicBezTo>
                  <a:lnTo>
                    <a:pt x="177701" y="362144"/>
                  </a:lnTo>
                  <a:cubicBezTo>
                    <a:pt x="79560" y="362144"/>
                    <a:pt x="0" y="282584"/>
                    <a:pt x="0" y="184442"/>
                  </a:cubicBezTo>
                  <a:lnTo>
                    <a:pt x="0" y="177701"/>
                  </a:lnTo>
                  <a:cubicBezTo>
                    <a:pt x="0" y="79560"/>
                    <a:pt x="79560" y="0"/>
                    <a:pt x="17770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66675"/>
              <a:ext cx="355403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DPC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706125" y="4127575"/>
            <a:ext cx="2529482" cy="1375015"/>
            <a:chOff x="0" y="0"/>
            <a:chExt cx="666201" cy="36214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666201" cy="362144"/>
            </a:xfrm>
            <a:custGeom>
              <a:avLst/>
              <a:gdLst/>
              <a:ahLst/>
              <a:cxnLst/>
              <a:rect l="l" t="t" r="r" b="b"/>
              <a:pathLst>
                <a:path w="666201" h="362144">
                  <a:moveTo>
                    <a:pt x="156094" y="0"/>
                  </a:moveTo>
                  <a:lnTo>
                    <a:pt x="510107" y="0"/>
                  </a:lnTo>
                  <a:cubicBezTo>
                    <a:pt x="551505" y="0"/>
                    <a:pt x="591209" y="16446"/>
                    <a:pt x="620482" y="45719"/>
                  </a:cubicBezTo>
                  <a:cubicBezTo>
                    <a:pt x="649755" y="74992"/>
                    <a:pt x="666201" y="114696"/>
                    <a:pt x="666201" y="156094"/>
                  </a:cubicBezTo>
                  <a:lnTo>
                    <a:pt x="666201" y="206049"/>
                  </a:lnTo>
                  <a:cubicBezTo>
                    <a:pt x="666201" y="247448"/>
                    <a:pt x="649755" y="287151"/>
                    <a:pt x="620482" y="316425"/>
                  </a:cubicBezTo>
                  <a:cubicBezTo>
                    <a:pt x="591209" y="345698"/>
                    <a:pt x="551505" y="362144"/>
                    <a:pt x="510107" y="362144"/>
                  </a:cubicBezTo>
                  <a:lnTo>
                    <a:pt x="156094" y="362144"/>
                  </a:lnTo>
                  <a:cubicBezTo>
                    <a:pt x="114696" y="362144"/>
                    <a:pt x="74992" y="345698"/>
                    <a:pt x="45719" y="316425"/>
                  </a:cubicBezTo>
                  <a:cubicBezTo>
                    <a:pt x="16446" y="287151"/>
                    <a:pt x="0" y="247448"/>
                    <a:pt x="0" y="206049"/>
                  </a:cubicBezTo>
                  <a:lnTo>
                    <a:pt x="0" y="156094"/>
                  </a:lnTo>
                  <a:cubicBezTo>
                    <a:pt x="0" y="114696"/>
                    <a:pt x="16446" y="74992"/>
                    <a:pt x="45719" y="45719"/>
                  </a:cubicBezTo>
                  <a:cubicBezTo>
                    <a:pt x="74992" y="16446"/>
                    <a:pt x="114696" y="0"/>
                    <a:pt x="1560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66675"/>
              <a:ext cx="666201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MLP Fusion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413156" y="2211883"/>
            <a:ext cx="2481950" cy="1375015"/>
            <a:chOff x="0" y="0"/>
            <a:chExt cx="653682" cy="36214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53682" cy="362144"/>
            </a:xfrm>
            <a:custGeom>
              <a:avLst/>
              <a:gdLst/>
              <a:ahLst/>
              <a:cxnLst/>
              <a:rect l="l" t="t" r="r" b="b"/>
              <a:pathLst>
                <a:path w="653682" h="362144">
                  <a:moveTo>
                    <a:pt x="159084" y="0"/>
                  </a:moveTo>
                  <a:lnTo>
                    <a:pt x="494599" y="0"/>
                  </a:lnTo>
                  <a:cubicBezTo>
                    <a:pt x="582458" y="0"/>
                    <a:pt x="653682" y="71224"/>
                    <a:pt x="653682" y="159084"/>
                  </a:cubicBezTo>
                  <a:lnTo>
                    <a:pt x="653682" y="203060"/>
                  </a:lnTo>
                  <a:cubicBezTo>
                    <a:pt x="653682" y="290920"/>
                    <a:pt x="582458" y="362144"/>
                    <a:pt x="494599" y="362144"/>
                  </a:cubicBezTo>
                  <a:lnTo>
                    <a:pt x="159084" y="362144"/>
                  </a:lnTo>
                  <a:cubicBezTo>
                    <a:pt x="71224" y="362144"/>
                    <a:pt x="0" y="290920"/>
                    <a:pt x="0" y="203060"/>
                  </a:cubicBezTo>
                  <a:lnTo>
                    <a:pt x="0" y="159084"/>
                  </a:lnTo>
                  <a:cubicBezTo>
                    <a:pt x="0" y="71224"/>
                    <a:pt x="71224" y="0"/>
                    <a:pt x="15908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66675"/>
              <a:ext cx="653682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Scene Frame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Input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0389390" y="3910444"/>
            <a:ext cx="2529482" cy="1375015"/>
            <a:chOff x="0" y="0"/>
            <a:chExt cx="666201" cy="362144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66201" cy="362144"/>
            </a:xfrm>
            <a:custGeom>
              <a:avLst/>
              <a:gdLst/>
              <a:ahLst/>
              <a:cxnLst/>
              <a:rect l="l" t="t" r="r" b="b"/>
              <a:pathLst>
                <a:path w="666201" h="362144">
                  <a:moveTo>
                    <a:pt x="156094" y="0"/>
                  </a:moveTo>
                  <a:lnTo>
                    <a:pt x="510107" y="0"/>
                  </a:lnTo>
                  <a:cubicBezTo>
                    <a:pt x="551505" y="0"/>
                    <a:pt x="591209" y="16446"/>
                    <a:pt x="620482" y="45719"/>
                  </a:cubicBezTo>
                  <a:cubicBezTo>
                    <a:pt x="649755" y="74992"/>
                    <a:pt x="666201" y="114696"/>
                    <a:pt x="666201" y="156094"/>
                  </a:cubicBezTo>
                  <a:lnTo>
                    <a:pt x="666201" y="206049"/>
                  </a:lnTo>
                  <a:cubicBezTo>
                    <a:pt x="666201" y="247448"/>
                    <a:pt x="649755" y="287151"/>
                    <a:pt x="620482" y="316425"/>
                  </a:cubicBezTo>
                  <a:cubicBezTo>
                    <a:pt x="591209" y="345698"/>
                    <a:pt x="551505" y="362144"/>
                    <a:pt x="510107" y="362144"/>
                  </a:cubicBezTo>
                  <a:lnTo>
                    <a:pt x="156094" y="362144"/>
                  </a:lnTo>
                  <a:cubicBezTo>
                    <a:pt x="114696" y="362144"/>
                    <a:pt x="74992" y="345698"/>
                    <a:pt x="45719" y="316425"/>
                  </a:cubicBezTo>
                  <a:cubicBezTo>
                    <a:pt x="16446" y="287151"/>
                    <a:pt x="0" y="247448"/>
                    <a:pt x="0" y="206049"/>
                  </a:cubicBezTo>
                  <a:lnTo>
                    <a:pt x="0" y="156094"/>
                  </a:lnTo>
                  <a:cubicBezTo>
                    <a:pt x="0" y="114696"/>
                    <a:pt x="16446" y="74992"/>
                    <a:pt x="45719" y="45719"/>
                  </a:cubicBezTo>
                  <a:cubicBezTo>
                    <a:pt x="74992" y="16446"/>
                    <a:pt x="114696" y="0"/>
                    <a:pt x="1560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66675"/>
              <a:ext cx="666201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Context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Module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4334875" y="2084041"/>
            <a:ext cx="2529482" cy="1375015"/>
            <a:chOff x="0" y="0"/>
            <a:chExt cx="666201" cy="362144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666201" cy="362144"/>
            </a:xfrm>
            <a:custGeom>
              <a:avLst/>
              <a:gdLst/>
              <a:ahLst/>
              <a:cxnLst/>
              <a:rect l="l" t="t" r="r" b="b"/>
              <a:pathLst>
                <a:path w="666201" h="362144">
                  <a:moveTo>
                    <a:pt x="156094" y="0"/>
                  </a:moveTo>
                  <a:lnTo>
                    <a:pt x="510107" y="0"/>
                  </a:lnTo>
                  <a:cubicBezTo>
                    <a:pt x="551505" y="0"/>
                    <a:pt x="591209" y="16446"/>
                    <a:pt x="620482" y="45719"/>
                  </a:cubicBezTo>
                  <a:cubicBezTo>
                    <a:pt x="649755" y="74992"/>
                    <a:pt x="666201" y="114696"/>
                    <a:pt x="666201" y="156094"/>
                  </a:cubicBezTo>
                  <a:lnTo>
                    <a:pt x="666201" y="206049"/>
                  </a:lnTo>
                  <a:cubicBezTo>
                    <a:pt x="666201" y="247448"/>
                    <a:pt x="649755" y="287151"/>
                    <a:pt x="620482" y="316425"/>
                  </a:cubicBezTo>
                  <a:cubicBezTo>
                    <a:pt x="591209" y="345698"/>
                    <a:pt x="551505" y="362144"/>
                    <a:pt x="510107" y="362144"/>
                  </a:cubicBezTo>
                  <a:lnTo>
                    <a:pt x="156094" y="362144"/>
                  </a:lnTo>
                  <a:cubicBezTo>
                    <a:pt x="114696" y="362144"/>
                    <a:pt x="74992" y="345698"/>
                    <a:pt x="45719" y="316425"/>
                  </a:cubicBezTo>
                  <a:cubicBezTo>
                    <a:pt x="16446" y="287151"/>
                    <a:pt x="0" y="247448"/>
                    <a:pt x="0" y="206049"/>
                  </a:cubicBezTo>
                  <a:lnTo>
                    <a:pt x="0" y="156094"/>
                  </a:lnTo>
                  <a:cubicBezTo>
                    <a:pt x="0" y="114696"/>
                    <a:pt x="16446" y="74992"/>
                    <a:pt x="45719" y="45719"/>
                  </a:cubicBezTo>
                  <a:cubicBezTo>
                    <a:pt x="74992" y="16446"/>
                    <a:pt x="114696" y="0"/>
                    <a:pt x="1560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66675"/>
              <a:ext cx="666201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Text Input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4334875" y="3910444"/>
            <a:ext cx="2529482" cy="1375015"/>
            <a:chOff x="0" y="0"/>
            <a:chExt cx="666201" cy="36214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666201" cy="362144"/>
            </a:xfrm>
            <a:custGeom>
              <a:avLst/>
              <a:gdLst/>
              <a:ahLst/>
              <a:cxnLst/>
              <a:rect l="l" t="t" r="r" b="b"/>
              <a:pathLst>
                <a:path w="666201" h="362144">
                  <a:moveTo>
                    <a:pt x="156094" y="0"/>
                  </a:moveTo>
                  <a:lnTo>
                    <a:pt x="510107" y="0"/>
                  </a:lnTo>
                  <a:cubicBezTo>
                    <a:pt x="551505" y="0"/>
                    <a:pt x="591209" y="16446"/>
                    <a:pt x="620482" y="45719"/>
                  </a:cubicBezTo>
                  <a:cubicBezTo>
                    <a:pt x="649755" y="74992"/>
                    <a:pt x="666201" y="114696"/>
                    <a:pt x="666201" y="156094"/>
                  </a:cubicBezTo>
                  <a:lnTo>
                    <a:pt x="666201" y="206049"/>
                  </a:lnTo>
                  <a:cubicBezTo>
                    <a:pt x="666201" y="247448"/>
                    <a:pt x="649755" y="287151"/>
                    <a:pt x="620482" y="316425"/>
                  </a:cubicBezTo>
                  <a:cubicBezTo>
                    <a:pt x="591209" y="345698"/>
                    <a:pt x="551505" y="362144"/>
                    <a:pt x="510107" y="362144"/>
                  </a:cubicBezTo>
                  <a:lnTo>
                    <a:pt x="156094" y="362144"/>
                  </a:lnTo>
                  <a:cubicBezTo>
                    <a:pt x="114696" y="362144"/>
                    <a:pt x="74992" y="345698"/>
                    <a:pt x="45719" y="316425"/>
                  </a:cubicBezTo>
                  <a:cubicBezTo>
                    <a:pt x="16446" y="287151"/>
                    <a:pt x="0" y="247448"/>
                    <a:pt x="0" y="206049"/>
                  </a:cubicBezTo>
                  <a:lnTo>
                    <a:pt x="0" y="156094"/>
                  </a:lnTo>
                  <a:cubicBezTo>
                    <a:pt x="0" y="114696"/>
                    <a:pt x="16446" y="74992"/>
                    <a:pt x="45719" y="45719"/>
                  </a:cubicBezTo>
                  <a:cubicBezTo>
                    <a:pt x="74992" y="16446"/>
                    <a:pt x="114696" y="0"/>
                    <a:pt x="1560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66675"/>
              <a:ext cx="666201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CLIP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928498" y="5910224"/>
            <a:ext cx="2529482" cy="1375015"/>
            <a:chOff x="0" y="0"/>
            <a:chExt cx="666201" cy="362144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666201" cy="362144"/>
            </a:xfrm>
            <a:custGeom>
              <a:avLst/>
              <a:gdLst/>
              <a:ahLst/>
              <a:cxnLst/>
              <a:rect l="l" t="t" r="r" b="b"/>
              <a:pathLst>
                <a:path w="666201" h="362144">
                  <a:moveTo>
                    <a:pt x="156094" y="0"/>
                  </a:moveTo>
                  <a:lnTo>
                    <a:pt x="510107" y="0"/>
                  </a:lnTo>
                  <a:cubicBezTo>
                    <a:pt x="551505" y="0"/>
                    <a:pt x="591209" y="16446"/>
                    <a:pt x="620482" y="45719"/>
                  </a:cubicBezTo>
                  <a:cubicBezTo>
                    <a:pt x="649755" y="74992"/>
                    <a:pt x="666201" y="114696"/>
                    <a:pt x="666201" y="156094"/>
                  </a:cubicBezTo>
                  <a:lnTo>
                    <a:pt x="666201" y="206049"/>
                  </a:lnTo>
                  <a:cubicBezTo>
                    <a:pt x="666201" y="247448"/>
                    <a:pt x="649755" y="287151"/>
                    <a:pt x="620482" y="316425"/>
                  </a:cubicBezTo>
                  <a:cubicBezTo>
                    <a:pt x="591209" y="345698"/>
                    <a:pt x="551505" y="362144"/>
                    <a:pt x="510107" y="362144"/>
                  </a:cubicBezTo>
                  <a:lnTo>
                    <a:pt x="156094" y="362144"/>
                  </a:lnTo>
                  <a:cubicBezTo>
                    <a:pt x="114696" y="362144"/>
                    <a:pt x="74992" y="345698"/>
                    <a:pt x="45719" y="316425"/>
                  </a:cubicBezTo>
                  <a:cubicBezTo>
                    <a:pt x="16446" y="287151"/>
                    <a:pt x="0" y="247448"/>
                    <a:pt x="0" y="206049"/>
                  </a:cubicBezTo>
                  <a:lnTo>
                    <a:pt x="0" y="156094"/>
                  </a:lnTo>
                  <a:cubicBezTo>
                    <a:pt x="0" y="114696"/>
                    <a:pt x="16446" y="74992"/>
                    <a:pt x="45719" y="45719"/>
                  </a:cubicBezTo>
                  <a:cubicBezTo>
                    <a:pt x="74992" y="16446"/>
                    <a:pt x="114696" y="0"/>
                    <a:pt x="1560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0" y="-66675"/>
              <a:ext cx="666201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Context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Gate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005415" y="5910224"/>
            <a:ext cx="2529482" cy="1375015"/>
            <a:chOff x="0" y="0"/>
            <a:chExt cx="666201" cy="36214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666201" cy="362144"/>
            </a:xfrm>
            <a:custGeom>
              <a:avLst/>
              <a:gdLst/>
              <a:ahLst/>
              <a:cxnLst/>
              <a:rect l="l" t="t" r="r" b="b"/>
              <a:pathLst>
                <a:path w="666201" h="362144">
                  <a:moveTo>
                    <a:pt x="156094" y="0"/>
                  </a:moveTo>
                  <a:lnTo>
                    <a:pt x="510107" y="0"/>
                  </a:lnTo>
                  <a:cubicBezTo>
                    <a:pt x="551505" y="0"/>
                    <a:pt x="591209" y="16446"/>
                    <a:pt x="620482" y="45719"/>
                  </a:cubicBezTo>
                  <a:cubicBezTo>
                    <a:pt x="649755" y="74992"/>
                    <a:pt x="666201" y="114696"/>
                    <a:pt x="666201" y="156094"/>
                  </a:cubicBezTo>
                  <a:lnTo>
                    <a:pt x="666201" y="206049"/>
                  </a:lnTo>
                  <a:cubicBezTo>
                    <a:pt x="666201" y="247448"/>
                    <a:pt x="649755" y="287151"/>
                    <a:pt x="620482" y="316425"/>
                  </a:cubicBezTo>
                  <a:cubicBezTo>
                    <a:pt x="591209" y="345698"/>
                    <a:pt x="551505" y="362144"/>
                    <a:pt x="510107" y="362144"/>
                  </a:cubicBezTo>
                  <a:lnTo>
                    <a:pt x="156094" y="362144"/>
                  </a:lnTo>
                  <a:cubicBezTo>
                    <a:pt x="114696" y="362144"/>
                    <a:pt x="74992" y="345698"/>
                    <a:pt x="45719" y="316425"/>
                  </a:cubicBezTo>
                  <a:cubicBezTo>
                    <a:pt x="16446" y="287151"/>
                    <a:pt x="0" y="247448"/>
                    <a:pt x="0" y="206049"/>
                  </a:cubicBezTo>
                  <a:lnTo>
                    <a:pt x="0" y="156094"/>
                  </a:lnTo>
                  <a:cubicBezTo>
                    <a:pt x="0" y="114696"/>
                    <a:pt x="16446" y="74992"/>
                    <a:pt x="45719" y="45719"/>
                  </a:cubicBezTo>
                  <a:cubicBezTo>
                    <a:pt x="74992" y="16446"/>
                    <a:pt x="114696" y="0"/>
                    <a:pt x="1560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0" y="-66675"/>
              <a:ext cx="666201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InfoNCE +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CPC Loss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3479755" y="6762750"/>
            <a:ext cx="2529482" cy="1709572"/>
            <a:chOff x="0" y="0"/>
            <a:chExt cx="666201" cy="45025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666201" cy="450258"/>
            </a:xfrm>
            <a:custGeom>
              <a:avLst/>
              <a:gdLst/>
              <a:ahLst/>
              <a:cxnLst/>
              <a:rect l="l" t="t" r="r" b="b"/>
              <a:pathLst>
                <a:path w="666201" h="450258">
                  <a:moveTo>
                    <a:pt x="156094" y="0"/>
                  </a:moveTo>
                  <a:lnTo>
                    <a:pt x="510107" y="0"/>
                  </a:lnTo>
                  <a:cubicBezTo>
                    <a:pt x="551505" y="0"/>
                    <a:pt x="591209" y="16446"/>
                    <a:pt x="620482" y="45719"/>
                  </a:cubicBezTo>
                  <a:cubicBezTo>
                    <a:pt x="649755" y="74992"/>
                    <a:pt x="666201" y="114696"/>
                    <a:pt x="666201" y="156094"/>
                  </a:cubicBezTo>
                  <a:lnTo>
                    <a:pt x="666201" y="294163"/>
                  </a:lnTo>
                  <a:cubicBezTo>
                    <a:pt x="666201" y="335562"/>
                    <a:pt x="649755" y="375265"/>
                    <a:pt x="620482" y="404539"/>
                  </a:cubicBezTo>
                  <a:cubicBezTo>
                    <a:pt x="591209" y="433812"/>
                    <a:pt x="551505" y="450258"/>
                    <a:pt x="510107" y="450258"/>
                  </a:cubicBezTo>
                  <a:lnTo>
                    <a:pt x="156094" y="450258"/>
                  </a:lnTo>
                  <a:cubicBezTo>
                    <a:pt x="114696" y="450258"/>
                    <a:pt x="74992" y="433812"/>
                    <a:pt x="45719" y="404539"/>
                  </a:cubicBezTo>
                  <a:cubicBezTo>
                    <a:pt x="16446" y="375265"/>
                    <a:pt x="0" y="335562"/>
                    <a:pt x="0" y="294163"/>
                  </a:cubicBezTo>
                  <a:lnTo>
                    <a:pt x="0" y="156094"/>
                  </a:lnTo>
                  <a:cubicBezTo>
                    <a:pt x="0" y="114696"/>
                    <a:pt x="16446" y="74992"/>
                    <a:pt x="45719" y="45719"/>
                  </a:cubicBezTo>
                  <a:cubicBezTo>
                    <a:pt x="74992" y="16446"/>
                    <a:pt x="114696" y="0"/>
                    <a:pt x="15609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0" y="-66675"/>
              <a:ext cx="666201" cy="5169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Joint Embedding</a:t>
              </a:r>
            </a:p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Space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277259" y="8164142"/>
            <a:ext cx="4826704" cy="1375015"/>
            <a:chOff x="0" y="0"/>
            <a:chExt cx="1271231" cy="3621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271231" cy="362144"/>
            </a:xfrm>
            <a:custGeom>
              <a:avLst/>
              <a:gdLst/>
              <a:ahLst/>
              <a:cxnLst/>
              <a:rect l="l" t="t" r="r" b="b"/>
              <a:pathLst>
                <a:path w="1271231" h="362144">
                  <a:moveTo>
                    <a:pt x="81803" y="0"/>
                  </a:moveTo>
                  <a:lnTo>
                    <a:pt x="1189428" y="0"/>
                  </a:lnTo>
                  <a:cubicBezTo>
                    <a:pt x="1234607" y="0"/>
                    <a:pt x="1271231" y="36624"/>
                    <a:pt x="1271231" y="81803"/>
                  </a:cubicBezTo>
                  <a:lnTo>
                    <a:pt x="1271231" y="280341"/>
                  </a:lnTo>
                  <a:cubicBezTo>
                    <a:pt x="1271231" y="325519"/>
                    <a:pt x="1234607" y="362144"/>
                    <a:pt x="1189428" y="362144"/>
                  </a:cubicBezTo>
                  <a:lnTo>
                    <a:pt x="81803" y="362144"/>
                  </a:lnTo>
                  <a:cubicBezTo>
                    <a:pt x="36624" y="362144"/>
                    <a:pt x="0" y="325519"/>
                    <a:pt x="0" y="280341"/>
                  </a:cubicBezTo>
                  <a:lnTo>
                    <a:pt x="0" y="81803"/>
                  </a:lnTo>
                  <a:cubicBezTo>
                    <a:pt x="0" y="36624"/>
                    <a:pt x="36624" y="0"/>
                    <a:pt x="8180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A6A6A6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0" y="-66675"/>
              <a:ext cx="1271231" cy="4288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639"/>
                </a:lnSpc>
              </a:pPr>
              <a:r>
                <a:rPr lang="en-US" sz="25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Zero-Shot Anomaly Detection</a:t>
              </a:r>
            </a:p>
          </p:txBody>
        </p:sp>
      </p:grpSp>
      <p:cxnSp>
        <p:nvCxnSpPr>
          <p:cNvPr id="85" name="Connector: Curved 84">
            <a:extLst>
              <a:ext uri="{FF2B5EF4-FFF2-40B4-BE49-F238E27FC236}">
                <a16:creationId xmlns:a16="http://schemas.microsoft.com/office/drawing/2014/main" id="{2D375470-28AD-7C4C-E0DE-252DBEFD7694}"/>
              </a:ext>
            </a:extLst>
          </p:cNvPr>
          <p:cNvCxnSpPr>
            <a:cxnSpLocks/>
            <a:endCxn id="28" idx="1"/>
          </p:cNvCxnSpPr>
          <p:nvPr/>
        </p:nvCxnSpPr>
        <p:spPr>
          <a:xfrm rot="16200000" flipH="1">
            <a:off x="2108334" y="3708249"/>
            <a:ext cx="1097309" cy="659076"/>
          </a:xfrm>
          <a:prstGeom prst="curvedConnector2">
            <a:avLst/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Curved 85">
            <a:extLst>
              <a:ext uri="{FF2B5EF4-FFF2-40B4-BE49-F238E27FC236}">
                <a16:creationId xmlns:a16="http://schemas.microsoft.com/office/drawing/2014/main" id="{13425CF5-88E2-4717-7185-D2C0B7E6335F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479757" y="2675992"/>
            <a:ext cx="1590673" cy="12700"/>
          </a:xfrm>
          <a:prstGeom prst="curvedConnector3">
            <a:avLst>
              <a:gd name="adj1" fmla="val 50000"/>
            </a:avLst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Curved 89">
            <a:extLst>
              <a:ext uri="{FF2B5EF4-FFF2-40B4-BE49-F238E27FC236}">
                <a16:creationId xmlns:a16="http://schemas.microsoft.com/office/drawing/2014/main" id="{10DB69EF-3C44-E587-A1F0-EB6A17AA411F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4335945" y="4682548"/>
            <a:ext cx="1370180" cy="5956"/>
          </a:xfrm>
          <a:prstGeom prst="curvedConnector3">
            <a:avLst>
              <a:gd name="adj1" fmla="val 50000"/>
            </a:avLst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Curved 98">
            <a:extLst>
              <a:ext uri="{FF2B5EF4-FFF2-40B4-BE49-F238E27FC236}">
                <a16:creationId xmlns:a16="http://schemas.microsoft.com/office/drawing/2014/main" id="{4FBC4841-E85A-2DE4-0807-5974847CF97E}"/>
              </a:ext>
            </a:extLst>
          </p:cNvPr>
          <p:cNvCxnSpPr>
            <a:cxnSpLocks/>
            <a:stCxn id="25" idx="3"/>
            <a:endCxn id="31" idx="3"/>
          </p:cNvCxnSpPr>
          <p:nvPr/>
        </p:nvCxnSpPr>
        <p:spPr>
          <a:xfrm>
            <a:off x="7599912" y="2675992"/>
            <a:ext cx="635695" cy="2012512"/>
          </a:xfrm>
          <a:prstGeom prst="curvedConnector3">
            <a:avLst>
              <a:gd name="adj1" fmla="val 187002"/>
            </a:avLst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: Curved 101">
            <a:extLst>
              <a:ext uri="{FF2B5EF4-FFF2-40B4-BE49-F238E27FC236}">
                <a16:creationId xmlns:a16="http://schemas.microsoft.com/office/drawing/2014/main" id="{91C5FB35-3BB0-E116-B90C-17D9758C6A70}"/>
              </a:ext>
            </a:extLst>
          </p:cNvPr>
          <p:cNvCxnSpPr>
            <a:cxnSpLocks/>
            <a:stCxn id="31" idx="2"/>
            <a:endCxn id="49" idx="1"/>
          </p:cNvCxnSpPr>
          <p:nvPr/>
        </p:nvCxnSpPr>
        <p:spPr>
          <a:xfrm rot="16200000" flipH="1">
            <a:off x="7003859" y="5469596"/>
            <a:ext cx="968563" cy="1034549"/>
          </a:xfrm>
          <a:prstGeom prst="curvedConnector2">
            <a:avLst/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: Curved 104">
            <a:extLst>
              <a:ext uri="{FF2B5EF4-FFF2-40B4-BE49-F238E27FC236}">
                <a16:creationId xmlns:a16="http://schemas.microsoft.com/office/drawing/2014/main" id="{EA2CF344-60AB-EA52-9C66-4AAD0DB6F23C}"/>
              </a:ext>
            </a:extLst>
          </p:cNvPr>
          <p:cNvCxnSpPr>
            <a:cxnSpLocks/>
            <a:stCxn id="34" idx="1"/>
            <a:endCxn id="37" idx="1"/>
          </p:cNvCxnSpPr>
          <p:nvPr/>
        </p:nvCxnSpPr>
        <p:spPr>
          <a:xfrm rot="10800000" flipV="1">
            <a:off x="10389390" y="2772811"/>
            <a:ext cx="23766" cy="1698561"/>
          </a:xfrm>
          <a:prstGeom prst="curvedConnector3">
            <a:avLst>
              <a:gd name="adj1" fmla="val 3233859"/>
            </a:avLst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: Curved 124">
            <a:extLst>
              <a:ext uri="{FF2B5EF4-FFF2-40B4-BE49-F238E27FC236}">
                <a16:creationId xmlns:a16="http://schemas.microsoft.com/office/drawing/2014/main" id="{16AD4076-97BE-983A-911E-AF3F27318F02}"/>
              </a:ext>
            </a:extLst>
          </p:cNvPr>
          <p:cNvCxnSpPr>
            <a:cxnSpLocks/>
          </p:cNvCxnSpPr>
          <p:nvPr/>
        </p:nvCxnSpPr>
        <p:spPr>
          <a:xfrm rot="10800000" flipV="1">
            <a:off x="14322585" y="2771548"/>
            <a:ext cx="23766" cy="1698561"/>
          </a:xfrm>
          <a:prstGeom prst="curvedConnector3">
            <a:avLst>
              <a:gd name="adj1" fmla="val 3233859"/>
            </a:avLst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Curved 125">
            <a:extLst>
              <a:ext uri="{FF2B5EF4-FFF2-40B4-BE49-F238E27FC236}">
                <a16:creationId xmlns:a16="http://schemas.microsoft.com/office/drawing/2014/main" id="{1DD5A8BB-81D7-68D9-2AEB-970335E9D19A}"/>
              </a:ext>
            </a:extLst>
          </p:cNvPr>
          <p:cNvCxnSpPr>
            <a:cxnSpLocks/>
          </p:cNvCxnSpPr>
          <p:nvPr/>
        </p:nvCxnSpPr>
        <p:spPr>
          <a:xfrm>
            <a:off x="12931162" y="4486318"/>
            <a:ext cx="290280" cy="1438851"/>
          </a:xfrm>
          <a:prstGeom prst="curvedConnector2">
            <a:avLst/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: Curved 134">
            <a:extLst>
              <a:ext uri="{FF2B5EF4-FFF2-40B4-BE49-F238E27FC236}">
                <a16:creationId xmlns:a16="http://schemas.microsoft.com/office/drawing/2014/main" id="{54B45882-8148-5202-D2E9-755985561485}"/>
              </a:ext>
            </a:extLst>
          </p:cNvPr>
          <p:cNvCxnSpPr>
            <a:cxnSpLocks/>
            <a:stCxn id="43" idx="2"/>
            <a:endCxn id="46" idx="3"/>
          </p:cNvCxnSpPr>
          <p:nvPr/>
        </p:nvCxnSpPr>
        <p:spPr>
          <a:xfrm rot="5400000">
            <a:off x="14435951" y="5307488"/>
            <a:ext cx="1185694" cy="1141636"/>
          </a:xfrm>
          <a:prstGeom prst="curvedConnector2">
            <a:avLst/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: Curved 137">
            <a:extLst>
              <a:ext uri="{FF2B5EF4-FFF2-40B4-BE49-F238E27FC236}">
                <a16:creationId xmlns:a16="http://schemas.microsoft.com/office/drawing/2014/main" id="{5527F948-BE16-B765-9614-FE8FF68CEE84}"/>
              </a:ext>
            </a:extLst>
          </p:cNvPr>
          <p:cNvCxnSpPr>
            <a:cxnSpLocks/>
          </p:cNvCxnSpPr>
          <p:nvPr/>
        </p:nvCxnSpPr>
        <p:spPr>
          <a:xfrm rot="10800000" flipV="1">
            <a:off x="10534898" y="6509593"/>
            <a:ext cx="1393600" cy="1"/>
          </a:xfrm>
          <a:prstGeom prst="curvedConnector3">
            <a:avLst>
              <a:gd name="adj1" fmla="val 50000"/>
            </a:avLst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: Curved 141">
            <a:extLst>
              <a:ext uri="{FF2B5EF4-FFF2-40B4-BE49-F238E27FC236}">
                <a16:creationId xmlns:a16="http://schemas.microsoft.com/office/drawing/2014/main" id="{44687066-DF24-3088-0BE5-127AEF85D54D}"/>
              </a:ext>
            </a:extLst>
          </p:cNvPr>
          <p:cNvCxnSpPr>
            <a:cxnSpLocks/>
            <a:stCxn id="49" idx="2"/>
          </p:cNvCxnSpPr>
          <p:nvPr/>
        </p:nvCxnSpPr>
        <p:spPr>
          <a:xfrm rot="5400000">
            <a:off x="7433978" y="5860499"/>
            <a:ext cx="411438" cy="3260918"/>
          </a:xfrm>
          <a:prstGeom prst="curvedConnector2">
            <a:avLst/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: Curved 145">
            <a:extLst>
              <a:ext uri="{FF2B5EF4-FFF2-40B4-BE49-F238E27FC236}">
                <a16:creationId xmlns:a16="http://schemas.microsoft.com/office/drawing/2014/main" id="{75AB62EB-1FBB-EFD5-007D-FB83AEE2C35C}"/>
              </a:ext>
            </a:extLst>
          </p:cNvPr>
          <p:cNvCxnSpPr>
            <a:cxnSpLocks/>
            <a:stCxn id="52" idx="2"/>
          </p:cNvCxnSpPr>
          <p:nvPr/>
        </p:nvCxnSpPr>
        <p:spPr>
          <a:xfrm rot="16200000" flipH="1">
            <a:off x="6245423" y="6971395"/>
            <a:ext cx="479926" cy="3481780"/>
          </a:xfrm>
          <a:prstGeom prst="curvedConnector2">
            <a:avLst/>
          </a:prstGeom>
          <a:ln w="38100" cmpd="sng">
            <a:solidFill>
              <a:schemeClr val="tx1"/>
            </a:solidFill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 PREPROCESSING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12300" y="2749609"/>
            <a:ext cx="16063399" cy="6508691"/>
            <a:chOff x="0" y="0"/>
            <a:chExt cx="21417865" cy="8678254"/>
          </a:xfrm>
        </p:grpSpPr>
        <p:sp>
          <p:nvSpPr>
            <p:cNvPr id="21" name="TextBox 21"/>
            <p:cNvSpPr txBox="1"/>
            <p:nvPr/>
          </p:nvSpPr>
          <p:spPr>
            <a:xfrm>
              <a:off x="1827514" y="-76200"/>
              <a:ext cx="19590351" cy="8754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503"/>
                </a:lnSpc>
              </a:pPr>
              <a:r>
                <a:rPr lang="en-US" sz="250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UCA Dataset: </a:t>
              </a: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128 hrs of 1,900 real-world surveillance videos, each line in the manifest gives label • video_id • start–end timestamps • event description.</a:t>
              </a:r>
            </a:p>
            <a:p>
              <a:pPr algn="l">
                <a:lnSpc>
                  <a:spcPts val="3503"/>
                </a:lnSpc>
              </a:pPr>
              <a:endPara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503"/>
                </a:lnSpc>
              </a:pPr>
              <a:r>
                <a:rPr lang="en-US" sz="250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Dual-clip sparse sampling: </a:t>
              </a: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For each segment, sample 8 high-res frames (224²) and 30 low-res frames (112²) by splitting into bins and choosing one random frame per bin (“jittered sampling”).</a:t>
              </a:r>
            </a:p>
            <a:p>
              <a:pPr algn="l">
                <a:lnSpc>
                  <a:spcPts val="3503"/>
                </a:lnSpc>
              </a:pPr>
              <a:endPara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503"/>
                </a:lnSpc>
              </a:pPr>
              <a:r>
                <a:rPr lang="en-US" sz="250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Efficient loader &amp; transforms: </a:t>
              </a: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Use Decord to decode only sampled frames (CPU/GPU), resize → tensor → ImageNet-normalize, and also extract the middle frame (224²) for scene-context encoding.</a:t>
              </a:r>
            </a:p>
            <a:p>
              <a:pPr algn="l">
                <a:lnSpc>
                  <a:spcPts val="3503"/>
                </a:lnSpc>
              </a:pPr>
              <a:endPara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503"/>
                </a:lnSpc>
              </a:pPr>
              <a:r>
                <a:rPr lang="en-US" sz="2502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Training vs Testing:</a:t>
              </a:r>
              <a:r>
                <a:rPr lang="en-US" sz="2502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The loader returns a dict {video_tsf, video_dpc, scene_img, caption, label} with per-worker lazy Decord contexts for safe parallel I/O, and the model is trained only on normal clips but tested zero-shot on unseen anomalous events.</a:t>
              </a:r>
            </a:p>
            <a:p>
              <a:pPr algn="l">
                <a:lnSpc>
                  <a:spcPts val="3503"/>
                </a:lnSpc>
              </a:pPr>
              <a:endPara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65411"/>
              <a:ext cx="1297021" cy="1015094"/>
              <a:chOff x="0" y="0"/>
              <a:chExt cx="568927" cy="4452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3596" y="224978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1833861"/>
              <a:ext cx="1297021" cy="1015094"/>
              <a:chOff x="0" y="0"/>
              <a:chExt cx="568927" cy="44526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103596" y="1993428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0" y="4159240"/>
              <a:ext cx="1297021" cy="1015094"/>
              <a:chOff x="0" y="0"/>
              <a:chExt cx="568927" cy="4452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103596" y="4318807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0" y="6482434"/>
              <a:ext cx="1297021" cy="1015094"/>
              <a:chOff x="0" y="0"/>
              <a:chExt cx="568927" cy="44526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103596" y="6642001"/>
              <a:ext cx="1085721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DESIGN IMPLEMENTATION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44370" y="2129830"/>
            <a:ext cx="14599259" cy="7385050"/>
            <a:chOff x="0" y="0"/>
            <a:chExt cx="19465679" cy="9846733"/>
          </a:xfrm>
        </p:grpSpPr>
        <p:sp>
          <p:nvSpPr>
            <p:cNvPr id="21" name="TextBox 21"/>
            <p:cNvSpPr txBox="1"/>
            <p:nvPr/>
          </p:nvSpPr>
          <p:spPr>
            <a:xfrm>
              <a:off x="1377097" y="-66675"/>
              <a:ext cx="18088582" cy="99134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Unified multi-modal pipeline: 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Integrates TimeSformer backbone, DPC-RNN predictor, concatenation-based context fusion, and CLIP text encoder.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Spatiotemporal feature extraction: 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Divided space–time self-attention yields global frame embeddings.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Contrastive predictive coding: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RNN forecasts future latent vectors using InfoNCE loss with hard negatives.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Context fusion via concatenation: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CLIP text embedding appended to each visual feature before RNN input for scene-awareness.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Semantic context alignment: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CLIP text encoder embeds scene descriptions; InfoNCE aligns video and text in a shared space.</a:t>
              </a:r>
            </a:p>
            <a:p>
              <a:pPr algn="l">
                <a:lnSpc>
                  <a:spcPts val="3499"/>
                </a:lnSpc>
              </a:pPr>
              <a:endPara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b="1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Joint training &amp; anomaly scoring:</a:t>
              </a:r>
              <a:r>
                <a:rPr lang="en-US" sz="2499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Optimize combined predictive and context losses; anomaly score is weighted sum of prediction error and context deviation.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36575"/>
              <a:ext cx="1200402" cy="1015094"/>
              <a:chOff x="0" y="0"/>
              <a:chExt cx="526546" cy="4452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95878" y="196141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1775568"/>
              <a:ext cx="1200402" cy="1015094"/>
              <a:chOff x="0" y="0"/>
              <a:chExt cx="526546" cy="44526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95878" y="1935135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0" y="3610823"/>
              <a:ext cx="1200402" cy="1015094"/>
              <a:chOff x="0" y="0"/>
              <a:chExt cx="526546" cy="4452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95878" y="3770390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0" y="5349817"/>
              <a:ext cx="1200402" cy="1015094"/>
              <a:chOff x="0" y="0"/>
              <a:chExt cx="526546" cy="44526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5878" y="5509384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0" y="7088811"/>
              <a:ext cx="1200402" cy="1015094"/>
              <a:chOff x="0" y="0"/>
              <a:chExt cx="526546" cy="44526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95878" y="7248377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0" y="8831640"/>
              <a:ext cx="1200402" cy="1015094"/>
              <a:chOff x="0" y="0"/>
              <a:chExt cx="526546" cy="44526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95878" y="8991207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RESULT ANALYSIS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2126007" y="2529266"/>
            <a:ext cx="14365444" cy="7511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96"/>
              </a:lnSpc>
            </a:pPr>
            <a:r>
              <a:rPr lang="en-US" sz="23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Quantitative Performance</a:t>
            </a:r>
          </a:p>
          <a:p>
            <a:pPr marL="512156" lvl="1" indent="-256078" algn="l">
              <a:lnSpc>
                <a:spcPts val="4696"/>
              </a:lnSpc>
              <a:buFont typeface="Arial"/>
              <a:buChar char="•"/>
            </a:pPr>
            <a:r>
              <a:rPr lang="en-US" sz="23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ROC-AUC: 0.65</a:t>
            </a:r>
          </a:p>
          <a:p>
            <a:pPr marL="1024312" lvl="2" indent="-341437" algn="l">
              <a:lnSpc>
                <a:spcPts val="4696"/>
              </a:lnSpc>
              <a:buFont typeface="Arial"/>
              <a:buChar char="⚬"/>
            </a:pPr>
            <a:r>
              <a:rPr lang="en-US" sz="23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Above random chance (0.5) but below strong detection (≈0.8), indicating a moderate ability to rank anomalous clips higher than normal ones.</a:t>
            </a:r>
          </a:p>
          <a:p>
            <a:pPr marL="512156" lvl="1" indent="-256078" algn="l">
              <a:lnSpc>
                <a:spcPts val="4696"/>
              </a:lnSpc>
              <a:buFont typeface="Arial"/>
              <a:buChar char="•"/>
            </a:pPr>
            <a:r>
              <a:rPr lang="en-US" sz="23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PR-AUC: 0.45</a:t>
            </a:r>
          </a:p>
          <a:p>
            <a:pPr marL="1024312" lvl="2" indent="-341437" algn="l">
              <a:lnSpc>
                <a:spcPts val="4696"/>
              </a:lnSpc>
              <a:buFont typeface="Arial"/>
              <a:buChar char="⚬"/>
            </a:pPr>
            <a:r>
              <a:rPr lang="en-US" sz="23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balanced precision–recall trade-off, capturing a fair number of true positives while keeping false positives at an acceptable level.</a:t>
            </a:r>
          </a:p>
          <a:p>
            <a:pPr marL="512156" lvl="1" indent="-256078" algn="l">
              <a:lnSpc>
                <a:spcPts val="4696"/>
              </a:lnSpc>
              <a:buFont typeface="Arial"/>
              <a:buChar char="•"/>
            </a:pPr>
            <a:r>
              <a:rPr lang="en-US" sz="23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Mean Predictive Loss: 2.05</a:t>
            </a:r>
          </a:p>
          <a:p>
            <a:pPr marL="1024312" lvl="2" indent="-341437" algn="l">
              <a:lnSpc>
                <a:spcPts val="4696"/>
              </a:lnSpc>
              <a:buFont typeface="Arial"/>
              <a:buChar char="⚬"/>
            </a:pPr>
            <a:r>
              <a:rPr lang="en-US" sz="2372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 intermediate prediction error on “normal” sequences, showing the model learns core spatiotemporal patterns but still leaves room for improvement.</a:t>
            </a:r>
          </a:p>
          <a:p>
            <a:pPr algn="ctr">
              <a:lnSpc>
                <a:spcPts val="15265"/>
              </a:lnSpc>
            </a:pPr>
            <a:endParaRPr lang="en-US" sz="2372" b="1">
              <a:solidFill>
                <a:srgbClr val="000000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LIMITATIONS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97618" y="2152150"/>
            <a:ext cx="14692763" cy="7461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3"/>
              </a:lnSpc>
            </a:pPr>
            <a:endParaRPr/>
          </a:p>
          <a:p>
            <a:pPr algn="l">
              <a:lnSpc>
                <a:spcPts val="3503"/>
              </a:lnSpc>
            </a:pPr>
            <a:r>
              <a:rPr lang="en-US" sz="250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Multi-Object Problem:</a:t>
            </a:r>
          </a:p>
          <a:p>
            <a:pPr algn="l">
              <a:lnSpc>
                <a:spcPts val="3503"/>
              </a:lnSpc>
            </a:pPr>
            <a:endParaRPr lang="en-US" sz="2502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40253" lvl="1" indent="-270127" algn="l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Aggregated scene features mask individual anomalies when many normal activities dominate.</a:t>
            </a:r>
          </a:p>
          <a:p>
            <a:pPr marL="540253" lvl="1" indent="-270127" algn="l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Small or brief anomalous actions can be lost in pooled spatiotemporal representations.</a:t>
            </a:r>
          </a:p>
          <a:p>
            <a:pPr marL="540253" lvl="1" indent="-270127" algn="l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Dedicated detection and per-object analysis are required to localize and assess isolated anomalies.</a:t>
            </a:r>
          </a:p>
          <a:p>
            <a:pPr algn="l">
              <a:lnSpc>
                <a:spcPts val="3503"/>
              </a:lnSpc>
            </a:pPr>
            <a:endParaRPr lang="en-US" sz="25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503"/>
              </a:lnSpc>
            </a:pPr>
            <a:r>
              <a:rPr lang="en-US" sz="2502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Domain gaps from varied visual conditions:</a:t>
            </a:r>
          </a:p>
          <a:p>
            <a:pPr algn="l">
              <a:lnSpc>
                <a:spcPts val="3503"/>
              </a:lnSpc>
            </a:pPr>
            <a:endParaRPr lang="en-US" sz="2502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40253" lvl="1" indent="-270127" algn="l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Low-light noise, absence of color, weather fluctuations, resolution changes, and lens artifacts all degrade feature extraction and alignment.</a:t>
            </a:r>
          </a:p>
          <a:p>
            <a:pPr marL="540253" lvl="1" indent="-270127" algn="l">
              <a:lnSpc>
                <a:spcPts val="3503"/>
              </a:lnSpc>
              <a:buFont typeface="Arial"/>
              <a:buChar char="•"/>
            </a:pPr>
            <a:r>
              <a:rPr lang="en-US" sz="2502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Dynamic thresholding or lightweight fine-tuning ensures consistent performance across hardware and environmental variations.</a:t>
            </a:r>
          </a:p>
          <a:p>
            <a:pPr algn="l">
              <a:lnSpc>
                <a:spcPts val="3503"/>
              </a:lnSpc>
            </a:pPr>
            <a:endParaRPr lang="en-US" sz="25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503"/>
              </a:lnSpc>
            </a:pPr>
            <a:endParaRPr lang="en-US" sz="2502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380471" y="513392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CONCLUSION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844370" y="1884617"/>
            <a:ext cx="14599259" cy="7823200"/>
            <a:chOff x="0" y="0"/>
            <a:chExt cx="19465679" cy="10430933"/>
          </a:xfrm>
        </p:grpSpPr>
        <p:sp>
          <p:nvSpPr>
            <p:cNvPr id="21" name="TextBox 21"/>
            <p:cNvSpPr txBox="1"/>
            <p:nvPr/>
          </p:nvSpPr>
          <p:spPr>
            <a:xfrm>
              <a:off x="1377097" y="-66675"/>
              <a:ext cx="18088582" cy="104976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</a:pPr>
              <a:r>
                <a:rPr lang="en-US" sz="24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Introduced a novel context-aware, zero-shot framework for anomaly detection in surveillance systems.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Effectively combines contrastive semantic modeling with predictive temporal analysis of normal behavior.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Proven to generalize well to new surveillance environments by adapting anomaly interpretation based on context.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Designed with modular components, making it scalable, interpretable, and suitable for real-world deployment.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Acknowledged limitations include reliance on scene context input, which can affect performance if inaccurate.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l">
                <a:lnSpc>
                  <a:spcPts val="3499"/>
                </a:lnSpc>
              </a:pPr>
              <a:r>
                <a:rPr lang="en-US" sz="2499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Detection of highly subtle or interaction-based anomalies remains an area requiring further development.</a:t>
              </a:r>
            </a:p>
            <a:p>
              <a:pPr algn="l">
                <a:lnSpc>
                  <a:spcPts val="3499"/>
                </a:lnSpc>
              </a:pPr>
              <a:endPara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36575"/>
              <a:ext cx="1200402" cy="1015094"/>
              <a:chOff x="0" y="0"/>
              <a:chExt cx="526546" cy="4452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95878" y="196141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0" y="1775568"/>
              <a:ext cx="1200402" cy="1015094"/>
              <a:chOff x="0" y="0"/>
              <a:chExt cx="526546" cy="44526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9" name="TextBox 29"/>
            <p:cNvSpPr txBox="1"/>
            <p:nvPr/>
          </p:nvSpPr>
          <p:spPr>
            <a:xfrm>
              <a:off x="95878" y="1935135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0" y="3610823"/>
              <a:ext cx="1200402" cy="1015094"/>
              <a:chOff x="0" y="0"/>
              <a:chExt cx="526546" cy="44526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95878" y="3770390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grpSp>
          <p:nvGrpSpPr>
            <p:cNvPr id="34" name="Group 34"/>
            <p:cNvGrpSpPr/>
            <p:nvPr/>
          </p:nvGrpSpPr>
          <p:grpSpPr>
            <a:xfrm>
              <a:off x="0" y="5349817"/>
              <a:ext cx="1200402" cy="1015094"/>
              <a:chOff x="0" y="0"/>
              <a:chExt cx="526546" cy="445262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7" name="TextBox 37"/>
            <p:cNvSpPr txBox="1"/>
            <p:nvPr/>
          </p:nvSpPr>
          <p:spPr>
            <a:xfrm>
              <a:off x="95878" y="5509384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0" y="7088811"/>
              <a:ext cx="1200402" cy="1015094"/>
              <a:chOff x="0" y="0"/>
              <a:chExt cx="526546" cy="44526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95878" y="7248377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0" y="8831640"/>
              <a:ext cx="1200402" cy="1015094"/>
              <a:chOff x="0" y="0"/>
              <a:chExt cx="526546" cy="44526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26546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6546" h="445262">
                    <a:moveTo>
                      <a:pt x="0" y="0"/>
                    </a:moveTo>
                    <a:lnTo>
                      <a:pt x="526546" y="0"/>
                    </a:lnTo>
                    <a:lnTo>
                      <a:pt x="526546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0" y="-57150"/>
                <a:ext cx="526546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95878" y="8991207"/>
              <a:ext cx="1004842" cy="6197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779"/>
                </a:lnSpc>
                <a:spcBef>
                  <a:spcPct val="0"/>
                </a:spcBef>
              </a:pPr>
              <a:r>
                <a:rPr lang="en-US" sz="2700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353590" y="-1035099"/>
            <a:ext cx="22816629" cy="12135228"/>
            <a:chOff x="0" y="0"/>
            <a:chExt cx="30422172" cy="16180304"/>
          </a:xfrm>
        </p:grpSpPr>
        <p:sp>
          <p:nvSpPr>
            <p:cNvPr id="3" name="Freeform 3"/>
            <p:cNvSpPr/>
            <p:nvPr/>
          </p:nvSpPr>
          <p:spPr>
            <a:xfrm>
              <a:off x="23688236" y="11265816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2"/>
                  </a:lnTo>
                  <a:lnTo>
                    <a:pt x="0" y="41012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10800000">
              <a:off x="2873969" y="879952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24363321" y="11940900"/>
              <a:ext cx="3267364" cy="3267364"/>
            </a:xfrm>
            <a:custGeom>
              <a:avLst/>
              <a:gdLst/>
              <a:ahLst/>
              <a:cxnLst/>
              <a:rect l="l" t="t" r="r" b="b"/>
              <a:pathLst>
                <a:path w="3267364" h="3267364">
                  <a:moveTo>
                    <a:pt x="0" y="0"/>
                  </a:moveTo>
                  <a:lnTo>
                    <a:pt x="3267364" y="0"/>
                  </a:lnTo>
                  <a:lnTo>
                    <a:pt x="3267364" y="3267365"/>
                  </a:lnTo>
                  <a:lnTo>
                    <a:pt x="0" y="3267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10800000">
              <a:off x="3045852" y="1051835"/>
              <a:ext cx="3535585" cy="3535585"/>
            </a:xfrm>
            <a:custGeom>
              <a:avLst/>
              <a:gdLst/>
              <a:ahLst/>
              <a:cxnLst/>
              <a:rect l="l" t="t" r="r" b="b"/>
              <a:pathLst>
                <a:path w="3535585" h="3535585">
                  <a:moveTo>
                    <a:pt x="0" y="0"/>
                  </a:moveTo>
                  <a:lnTo>
                    <a:pt x="3535585" y="0"/>
                  </a:lnTo>
                  <a:lnTo>
                    <a:pt x="3535585" y="3535585"/>
                  </a:lnTo>
                  <a:lnTo>
                    <a:pt x="0" y="3535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-2700000">
              <a:off x="25471473" y="8528048"/>
              <a:ext cx="4101293" cy="4101293"/>
            </a:xfrm>
            <a:custGeom>
              <a:avLst/>
              <a:gdLst/>
              <a:ahLst/>
              <a:cxnLst/>
              <a:rect l="l" t="t" r="r" b="b"/>
              <a:pathLst>
                <a:path w="4101293" h="4101293">
                  <a:moveTo>
                    <a:pt x="0" y="0"/>
                  </a:moveTo>
                  <a:lnTo>
                    <a:pt x="4101293" y="0"/>
                  </a:lnTo>
                  <a:lnTo>
                    <a:pt x="4101293" y="4101293"/>
                  </a:lnTo>
                  <a:lnTo>
                    <a:pt x="0" y="41012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8100000">
              <a:off x="919134" y="3946168"/>
              <a:ext cx="4437971" cy="4437971"/>
            </a:xfrm>
            <a:custGeom>
              <a:avLst/>
              <a:gdLst/>
              <a:ahLst/>
              <a:cxnLst/>
              <a:rect l="l" t="t" r="r" b="b"/>
              <a:pathLst>
                <a:path w="4437971" h="4437971">
                  <a:moveTo>
                    <a:pt x="0" y="0"/>
                  </a:moveTo>
                  <a:lnTo>
                    <a:pt x="4437971" y="0"/>
                  </a:lnTo>
                  <a:lnTo>
                    <a:pt x="4437971" y="4437971"/>
                  </a:lnTo>
                  <a:lnTo>
                    <a:pt x="0" y="4437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>
              <a:off x="26391716" y="13993667"/>
              <a:ext cx="2210754" cy="2186636"/>
            </a:xfrm>
            <a:custGeom>
              <a:avLst/>
              <a:gdLst/>
              <a:ahLst/>
              <a:cxnLst/>
              <a:rect l="l" t="t" r="r" b="b"/>
              <a:pathLst>
                <a:path w="2210754" h="2186636">
                  <a:moveTo>
                    <a:pt x="0" y="0"/>
                  </a:moveTo>
                  <a:lnTo>
                    <a:pt x="2210754" y="0"/>
                  </a:lnTo>
                  <a:lnTo>
                    <a:pt x="2210754" y="2186637"/>
                  </a:lnTo>
                  <a:lnTo>
                    <a:pt x="0" y="21866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10800000">
              <a:off x="1994292" y="0"/>
              <a:ext cx="2392237" cy="2366139"/>
            </a:xfrm>
            <a:custGeom>
              <a:avLst/>
              <a:gdLst/>
              <a:ahLst/>
              <a:cxnLst/>
              <a:rect l="l" t="t" r="r" b="b"/>
              <a:pathLst>
                <a:path w="2392237" h="2366139">
                  <a:moveTo>
                    <a:pt x="0" y="0"/>
                  </a:moveTo>
                  <a:lnTo>
                    <a:pt x="2392237" y="0"/>
                  </a:lnTo>
                  <a:lnTo>
                    <a:pt x="2392237" y="2366139"/>
                  </a:lnTo>
                  <a:lnTo>
                    <a:pt x="0" y="23661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25481531" y="13382910"/>
              <a:ext cx="1573428" cy="191672"/>
            </a:xfrm>
            <a:custGeom>
              <a:avLst/>
              <a:gdLst/>
              <a:ahLst/>
              <a:cxnLst/>
              <a:rect l="l" t="t" r="r" b="b"/>
              <a:pathLst>
                <a:path w="1573428" h="191672">
                  <a:moveTo>
                    <a:pt x="0" y="0"/>
                  </a:moveTo>
                  <a:lnTo>
                    <a:pt x="1573427" y="0"/>
                  </a:lnTo>
                  <a:lnTo>
                    <a:pt x="1573427" y="191673"/>
                  </a:lnTo>
                  <a:lnTo>
                    <a:pt x="0" y="1916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-10800000">
              <a:off x="3668841" y="2819627"/>
              <a:ext cx="1702592" cy="207407"/>
            </a:xfrm>
            <a:custGeom>
              <a:avLst/>
              <a:gdLst/>
              <a:ahLst/>
              <a:cxnLst/>
              <a:rect l="l" t="t" r="r" b="b"/>
              <a:pathLst>
                <a:path w="1702592" h="207407">
                  <a:moveTo>
                    <a:pt x="0" y="0"/>
                  </a:moveTo>
                  <a:lnTo>
                    <a:pt x="1702592" y="0"/>
                  </a:lnTo>
                  <a:lnTo>
                    <a:pt x="1702592" y="207407"/>
                  </a:lnTo>
                  <a:lnTo>
                    <a:pt x="0" y="2074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3989382" y="13838060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0" y="0"/>
                  </a:moveTo>
                  <a:lnTo>
                    <a:pt x="1910269" y="0"/>
                  </a:lnTo>
                  <a:lnTo>
                    <a:pt x="1910269" y="590447"/>
                  </a:lnTo>
                  <a:lnTo>
                    <a:pt x="0" y="5904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 flipH="1">
              <a:off x="24760589" y="2047756"/>
              <a:ext cx="1910269" cy="590447"/>
            </a:xfrm>
            <a:custGeom>
              <a:avLst/>
              <a:gdLst/>
              <a:ahLst/>
              <a:cxnLst/>
              <a:rect l="l" t="t" r="r" b="b"/>
              <a:pathLst>
                <a:path w="1910269" h="590447">
                  <a:moveTo>
                    <a:pt x="1910269" y="0"/>
                  </a:moveTo>
                  <a:lnTo>
                    <a:pt x="0" y="0"/>
                  </a:lnTo>
                  <a:lnTo>
                    <a:pt x="0" y="590446"/>
                  </a:lnTo>
                  <a:lnTo>
                    <a:pt x="1910269" y="590446"/>
                  </a:lnTo>
                  <a:lnTo>
                    <a:pt x="1910269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4469747" y="806040"/>
            <a:ext cx="9348506" cy="1030616"/>
            <a:chOff x="0" y="0"/>
            <a:chExt cx="12464675" cy="1374154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0"/>
              <a:ext cx="12464675" cy="1374154"/>
              <a:chOff x="0" y="0"/>
              <a:chExt cx="2813281" cy="310147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2813282" cy="310147"/>
              </a:xfrm>
              <a:custGeom>
                <a:avLst/>
                <a:gdLst/>
                <a:ahLst/>
                <a:cxnLst/>
                <a:rect l="l" t="t" r="r" b="b"/>
                <a:pathLst>
                  <a:path w="2813282" h="310147">
                    <a:moveTo>
                      <a:pt x="0" y="0"/>
                    </a:moveTo>
                    <a:lnTo>
                      <a:pt x="2813282" y="0"/>
                    </a:lnTo>
                    <a:lnTo>
                      <a:pt x="2813282" y="310147"/>
                    </a:lnTo>
                    <a:lnTo>
                      <a:pt x="0" y="310147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0" y="-57150"/>
                <a:ext cx="2813281" cy="36729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19" name="TextBox 19"/>
            <p:cNvSpPr txBox="1"/>
            <p:nvPr/>
          </p:nvSpPr>
          <p:spPr>
            <a:xfrm>
              <a:off x="666853" y="98148"/>
              <a:ext cx="11130969" cy="10445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320"/>
                </a:lnSpc>
                <a:spcBef>
                  <a:spcPct val="0"/>
                </a:spcBef>
              </a:pPr>
              <a:r>
                <a:rPr lang="en-US" sz="4514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REFERENCES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532947" y="2781195"/>
            <a:ext cx="15742322" cy="725170"/>
            <a:chOff x="0" y="0"/>
            <a:chExt cx="20989762" cy="966894"/>
          </a:xfrm>
        </p:grpSpPr>
        <p:sp>
          <p:nvSpPr>
            <p:cNvPr id="21" name="TextBox 21"/>
            <p:cNvSpPr txBox="1"/>
            <p:nvPr/>
          </p:nvSpPr>
          <p:spPr>
            <a:xfrm>
              <a:off x="1219453" y="-38100"/>
              <a:ext cx="19770309" cy="1004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Liu, X., Luo, W., Du, J., Wang, X., Dang, Y., &amp; Liu, Y. (2024). A robust generalized zero-shot learning method with attribute proto- type and discriminative attention mechanism. Electronics, 13 (18), 3751.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0" y="0"/>
              <a:ext cx="962018" cy="752909"/>
              <a:chOff x="0" y="0"/>
              <a:chExt cx="568927" cy="44526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76838" y="127246"/>
              <a:ext cx="805294" cy="450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3"/>
                </a:lnSpc>
                <a:spcBef>
                  <a:spcPct val="0"/>
                </a:spcBef>
              </a:pPr>
              <a:r>
                <a:rPr lang="en-US" sz="200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532947" y="4019796"/>
            <a:ext cx="15742322" cy="1115695"/>
            <a:chOff x="0" y="0"/>
            <a:chExt cx="20989762" cy="1487594"/>
          </a:xfrm>
        </p:grpSpPr>
        <p:grpSp>
          <p:nvGrpSpPr>
            <p:cNvPr id="27" name="Group 27"/>
            <p:cNvGrpSpPr/>
            <p:nvPr/>
          </p:nvGrpSpPr>
          <p:grpSpPr>
            <a:xfrm>
              <a:off x="0" y="0"/>
              <a:ext cx="962018" cy="752909"/>
              <a:chOff x="0" y="0"/>
              <a:chExt cx="568927" cy="445262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76838" y="127246"/>
              <a:ext cx="805294" cy="450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3"/>
                </a:lnSpc>
                <a:spcBef>
                  <a:spcPct val="0"/>
                </a:spcBef>
              </a:pPr>
              <a:r>
                <a:rPr lang="en-US" sz="200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19453" y="-38100"/>
              <a:ext cx="19770309" cy="1525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Ad´ın Ram´ırez Rivera, Khan, A., Ibrahim, E., &amp; Taimoor Shakeel Sheikh. (2022). Anomaly Detection Based on Zero-Shot Outlier Synthesis and Hierarchi- cal Feature Distillation. IEEE Transactions on Neural Networks and Learning Systems, 33(1), 281–291. 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532947" y="5648922"/>
            <a:ext cx="15742322" cy="725170"/>
            <a:chOff x="0" y="0"/>
            <a:chExt cx="20989762" cy="966894"/>
          </a:xfrm>
        </p:grpSpPr>
        <p:grpSp>
          <p:nvGrpSpPr>
            <p:cNvPr id="33" name="Group 33"/>
            <p:cNvGrpSpPr/>
            <p:nvPr/>
          </p:nvGrpSpPr>
          <p:grpSpPr>
            <a:xfrm>
              <a:off x="0" y="0"/>
              <a:ext cx="962018" cy="752909"/>
              <a:chOff x="0" y="0"/>
              <a:chExt cx="568927" cy="44526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36" name="TextBox 36"/>
            <p:cNvSpPr txBox="1"/>
            <p:nvPr/>
          </p:nvSpPr>
          <p:spPr>
            <a:xfrm>
              <a:off x="76838" y="127246"/>
              <a:ext cx="805294" cy="450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3"/>
                </a:lnSpc>
                <a:spcBef>
                  <a:spcPct val="0"/>
                </a:spcBef>
              </a:pPr>
              <a:r>
                <a:rPr lang="en-US" sz="200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03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219453" y="-38100"/>
              <a:ext cx="19770309" cy="1004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Gu, Z., Zhu, B., Zhu, G., Chen, Y., Li, H., Tang, M., &amp; Wang, J. (2024). FILO: Zero-Shot Anomaly Detection by Fine-Grained Description and High-Quality Localization. </a:t>
              </a:r>
              <a:r>
                <a:rPr lang="en-US" sz="2199" b="1" u="non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a</a:t>
              </a: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rX</a:t>
              </a:r>
              <a:r>
                <a:rPr lang="en-US" sz="2199" b="1" u="non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i</a:t>
              </a: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v. 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532947" y="6887522"/>
            <a:ext cx="15742322" cy="725170"/>
            <a:chOff x="0" y="0"/>
            <a:chExt cx="20989762" cy="966894"/>
          </a:xfrm>
        </p:grpSpPr>
        <p:grpSp>
          <p:nvGrpSpPr>
            <p:cNvPr id="39" name="Group 39"/>
            <p:cNvGrpSpPr/>
            <p:nvPr/>
          </p:nvGrpSpPr>
          <p:grpSpPr>
            <a:xfrm>
              <a:off x="0" y="0"/>
              <a:ext cx="962018" cy="752909"/>
              <a:chOff x="0" y="0"/>
              <a:chExt cx="568927" cy="445262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568927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68927" h="445262">
                    <a:moveTo>
                      <a:pt x="0" y="0"/>
                    </a:moveTo>
                    <a:lnTo>
                      <a:pt x="568927" y="0"/>
                    </a:lnTo>
                    <a:lnTo>
                      <a:pt x="568927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0" y="-57150"/>
                <a:ext cx="568927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2" name="TextBox 42"/>
            <p:cNvSpPr txBox="1"/>
            <p:nvPr/>
          </p:nvSpPr>
          <p:spPr>
            <a:xfrm>
              <a:off x="76838" y="127246"/>
              <a:ext cx="805294" cy="450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3"/>
                </a:lnSpc>
                <a:spcBef>
                  <a:spcPct val="0"/>
                </a:spcBef>
              </a:pPr>
              <a:r>
                <a:rPr lang="en-US" sz="200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19453" y="-38100"/>
              <a:ext cx="19770309" cy="10049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Cheng, Y., Wen, G., Luo, A., Mei, S., Dong, H., &amp; Liu, X. (2025). An efficient and scale-aware zero-shot industrial anomaly de- tection technique based on optimized CLIP. Measurement, 117443.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532947" y="8126123"/>
            <a:ext cx="14649701" cy="1115695"/>
            <a:chOff x="0" y="0"/>
            <a:chExt cx="19532934" cy="1487594"/>
          </a:xfrm>
        </p:grpSpPr>
        <p:grpSp>
          <p:nvGrpSpPr>
            <p:cNvPr id="45" name="Group 45"/>
            <p:cNvGrpSpPr/>
            <p:nvPr/>
          </p:nvGrpSpPr>
          <p:grpSpPr>
            <a:xfrm>
              <a:off x="0" y="0"/>
              <a:ext cx="895248" cy="752909"/>
              <a:chOff x="0" y="0"/>
              <a:chExt cx="529440" cy="445262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29440" cy="445262"/>
              </a:xfrm>
              <a:custGeom>
                <a:avLst/>
                <a:gdLst/>
                <a:ahLst/>
                <a:cxnLst/>
                <a:rect l="l" t="t" r="r" b="b"/>
                <a:pathLst>
                  <a:path w="529440" h="445262">
                    <a:moveTo>
                      <a:pt x="0" y="0"/>
                    </a:moveTo>
                    <a:lnTo>
                      <a:pt x="529440" y="0"/>
                    </a:lnTo>
                    <a:lnTo>
                      <a:pt x="529440" y="445262"/>
                    </a:lnTo>
                    <a:lnTo>
                      <a:pt x="0" y="445262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55555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0" y="-57150"/>
                <a:ext cx="529440" cy="50241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223"/>
                  </a:lnSpc>
                </a:pPr>
                <a:endParaRPr/>
              </a:p>
            </p:txBody>
          </p:sp>
        </p:grpSp>
        <p:sp>
          <p:nvSpPr>
            <p:cNvPr id="48" name="TextBox 48"/>
            <p:cNvSpPr txBox="1"/>
            <p:nvPr/>
          </p:nvSpPr>
          <p:spPr>
            <a:xfrm>
              <a:off x="71505" y="127246"/>
              <a:ext cx="749401" cy="4507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3"/>
                </a:lnSpc>
                <a:spcBef>
                  <a:spcPct val="0"/>
                </a:spcBef>
              </a:pPr>
              <a:r>
                <a:rPr lang="en-US" sz="2002" b="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34815" y="-38100"/>
              <a:ext cx="18398119" cy="152569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1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Yang, Z., &amp; Radke, R. (2Aslam, N., &amp; Kolekar, M. H. (2024). TransGANomaly: Transformer based Generative Adversarial Network for Video Anomaly Detection. Jour- nal of Visual Communication and Image Representation, 100, 104108–104108.024).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497684" y="5496684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1" y="0"/>
                </a:lnTo>
                <a:lnTo>
                  <a:pt x="4983321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0800000">
            <a:off x="-212305" y="-193005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0" y="0"/>
                </a:lnTo>
                <a:lnTo>
                  <a:pt x="4983320" y="4983321"/>
                </a:lnTo>
                <a:lnTo>
                  <a:pt x="0" y="49833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4317953" y="6316953"/>
            <a:ext cx="3970047" cy="3970047"/>
          </a:xfrm>
          <a:custGeom>
            <a:avLst/>
            <a:gdLst/>
            <a:ahLst/>
            <a:cxnLst/>
            <a:rect l="l" t="t" r="r" b="b"/>
            <a:pathLst>
              <a:path w="3970047" h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2700000">
            <a:off x="15796340" y="2286577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0" y="0"/>
                </a:moveTo>
                <a:lnTo>
                  <a:pt x="4983320" y="0"/>
                </a:lnTo>
                <a:lnTo>
                  <a:pt x="4983320" y="4983320"/>
                </a:lnTo>
                <a:lnTo>
                  <a:pt x="0" y="498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0" y="0"/>
            <a:ext cx="3970047" cy="3970047"/>
          </a:xfrm>
          <a:custGeom>
            <a:avLst/>
            <a:gdLst/>
            <a:ahLst/>
            <a:cxnLst/>
            <a:rect l="l" t="t" r="r" b="b"/>
            <a:pathLst>
              <a:path w="3970047" h="3970047">
                <a:moveTo>
                  <a:pt x="0" y="0"/>
                </a:moveTo>
                <a:lnTo>
                  <a:pt x="3970047" y="0"/>
                </a:lnTo>
                <a:lnTo>
                  <a:pt x="3970047" y="3970047"/>
                </a:lnTo>
                <a:lnTo>
                  <a:pt x="0" y="39700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2700000" flipH="1" flipV="1">
            <a:off x="-2491660" y="2930197"/>
            <a:ext cx="4983320" cy="4983320"/>
          </a:xfrm>
          <a:custGeom>
            <a:avLst/>
            <a:gdLst/>
            <a:ahLst/>
            <a:cxnLst/>
            <a:rect l="l" t="t" r="r" b="b"/>
            <a:pathLst>
              <a:path w="4983320" h="4983320">
                <a:moveTo>
                  <a:pt x="4983320" y="4983320"/>
                </a:moveTo>
                <a:lnTo>
                  <a:pt x="0" y="4983320"/>
                </a:lnTo>
                <a:lnTo>
                  <a:pt x="0" y="0"/>
                </a:lnTo>
                <a:lnTo>
                  <a:pt x="4983320" y="0"/>
                </a:lnTo>
                <a:lnTo>
                  <a:pt x="4983320" y="498332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343100" y="-1328448"/>
            <a:ext cx="2686201" cy="2656897"/>
          </a:xfrm>
          <a:custGeom>
            <a:avLst/>
            <a:gdLst/>
            <a:ahLst/>
            <a:cxnLst/>
            <a:rect l="l" t="t" r="r" b="b"/>
            <a:pathLst>
              <a:path w="2686201" h="2656897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944900" y="8958552"/>
            <a:ext cx="2686201" cy="2656897"/>
          </a:xfrm>
          <a:custGeom>
            <a:avLst/>
            <a:gdLst/>
            <a:ahLst/>
            <a:cxnLst/>
            <a:rect l="l" t="t" r="r" b="b"/>
            <a:pathLst>
              <a:path w="2686201" h="2656897">
                <a:moveTo>
                  <a:pt x="0" y="0"/>
                </a:moveTo>
                <a:lnTo>
                  <a:pt x="2686200" y="0"/>
                </a:lnTo>
                <a:lnTo>
                  <a:pt x="2686200" y="2656896"/>
                </a:lnTo>
                <a:lnTo>
                  <a:pt x="0" y="26568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34599" y="1985023"/>
            <a:ext cx="1911810" cy="232893"/>
          </a:xfrm>
          <a:custGeom>
            <a:avLst/>
            <a:gdLst/>
            <a:ahLst/>
            <a:cxnLst/>
            <a:rect l="l" t="t" r="r" b="b"/>
            <a:pathLst>
              <a:path w="1911810" h="232893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676646" y="8069083"/>
            <a:ext cx="1911810" cy="232893"/>
          </a:xfrm>
          <a:custGeom>
            <a:avLst/>
            <a:gdLst/>
            <a:ahLst/>
            <a:cxnLst/>
            <a:rect l="l" t="t" r="r" b="b"/>
            <a:pathLst>
              <a:path w="1911810" h="232893">
                <a:moveTo>
                  <a:pt x="0" y="0"/>
                </a:moveTo>
                <a:lnTo>
                  <a:pt x="1911811" y="0"/>
                </a:lnTo>
                <a:lnTo>
                  <a:pt x="1911811" y="232894"/>
                </a:lnTo>
                <a:lnTo>
                  <a:pt x="0" y="23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8792994"/>
            <a:ext cx="3010803" cy="930612"/>
          </a:xfrm>
          <a:custGeom>
            <a:avLst/>
            <a:gdLst/>
            <a:ahLst/>
            <a:cxnLst/>
            <a:rect l="l" t="t" r="r" b="b"/>
            <a:pathLst>
              <a:path w="3010803" h="930612">
                <a:moveTo>
                  <a:pt x="0" y="0"/>
                </a:moveTo>
                <a:lnTo>
                  <a:pt x="3010803" y="0"/>
                </a:lnTo>
                <a:lnTo>
                  <a:pt x="3010803" y="930612"/>
                </a:lnTo>
                <a:lnTo>
                  <a:pt x="0" y="93061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flipH="1">
            <a:off x="14248497" y="563394"/>
            <a:ext cx="3010803" cy="930612"/>
          </a:xfrm>
          <a:custGeom>
            <a:avLst/>
            <a:gdLst/>
            <a:ahLst/>
            <a:cxnLst/>
            <a:rect l="l" t="t" r="r" b="b"/>
            <a:pathLst>
              <a:path w="3010803" h="930612">
                <a:moveTo>
                  <a:pt x="3010803" y="0"/>
                </a:moveTo>
                <a:lnTo>
                  <a:pt x="0" y="0"/>
                </a:lnTo>
                <a:lnTo>
                  <a:pt x="0" y="930612"/>
                </a:lnTo>
                <a:lnTo>
                  <a:pt x="3010803" y="930612"/>
                </a:lnTo>
                <a:lnTo>
                  <a:pt x="3010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3671722" y="3693822"/>
            <a:ext cx="10944556" cy="172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27"/>
              </a:lnSpc>
              <a:spcBef>
                <a:spcPct val="0"/>
              </a:spcBef>
            </a:pPr>
            <a:r>
              <a:rPr lang="en-US" sz="9591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1472</Words>
  <Application>Microsoft Office PowerPoint</Application>
  <PresentationFormat>Custom</PresentationFormat>
  <Paragraphs>180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Canva Sans Bold</vt:lpstr>
      <vt:lpstr>Poppins</vt:lpstr>
      <vt:lpstr>Arial</vt:lpstr>
      <vt:lpstr>Calibri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Defence</dc:title>
  <cp:lastModifiedBy>Mohammod Tareq Aziz</cp:lastModifiedBy>
  <cp:revision>1</cp:revision>
  <dcterms:created xsi:type="dcterms:W3CDTF">2006-08-16T00:00:00Z</dcterms:created>
  <dcterms:modified xsi:type="dcterms:W3CDTF">2025-06-19T03:51:03Z</dcterms:modified>
  <dc:identifier>DAGp-4BDfEE</dc:identifier>
</cp:coreProperties>
</file>